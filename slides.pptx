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I'm Dekun Wu, a PhD student in Computer Science at Université de Montréal, supervised by Professor Bang Liu.</a:t>
            </a:r>
          </a:p>
          <a:p/>
          <a:p>
            <a:r>
              <a:t>The next forty minutes are split into two parts. First, I will give a short conceptual overview of three agent protocols: MCP, A2A, and FA. Then we will switch to Jupyter and run three small demos.</a:t>
            </a:r>
          </a:p>
          <a:p/>
          <a:p>
            <a:r>
              <a:t>The running example is intentionally simple: we ask an agent about one stock, NVDA. We keep the task almost the same across the demos, so the protocol difference is visible. Through those examples I will show you how an LLM reaches tools, delegates work, and finds other agents.</a:t>
            </a:r>
          </a:p>
          <a:p/>
          <a:p>
            <a:r>
              <a:t>Please interrupt me if something is unclear. The goal is that by the end, you can look at a new agent system and ask: is this an MCP shape, an A2A shape, or a federated-agent shape?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LLM's knowledge all comes from pretraining — billions of tokens of text are used to set the model's weights, and that's it. The training data has a cutoff date; ask the model about anything after that cutoff and it has no way to know. Today's NVDA closing price is the obvious example. And beyond facts: a plain LLM also can't *do* anything on its own — no plotting, no database query, no API call.</a:t>
            </a:r>
          </a:p>
          <a:p/>
          <a:p>
            <a:r>
              <a:t>An LLM agent fixes both. Look at the loop in the diagram. The model can decide to call a tool — that's the `tool_use` arrow going down — get the result back, and feed it into the next round of reasoning. The tool might be a database query, a function, an API, even another agent. It loops until it has what it needs.</a:t>
            </a:r>
          </a:p>
          <a:p/>
          <a:p>
            <a:r>
              <a:t>That decision loop is what separates an agent from a chatbot. The three protocols today all standardize that downward arrow — each at a different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three protocols I will introduce today.</a:t>
            </a:r>
          </a:p>
          <a:p/>
          <a:p>
            <a:r>
              <a:t>MCP, the Model Context Protocol, is mainly about connecting an agent to tools and data. For example, a stock-data tool, a plotting tool, a SQL database, or a research lab's internal analysis pipeline.</a:t>
            </a:r>
          </a:p>
          <a:p/>
          <a:p>
            <a:r>
              <a:t>A2A, Agent-to-Agent, is about connecting one agent to another agent. The difference is that the thing being called is not just a function. It has its own LLM loop inside and can decide how to solve the task.</a:t>
            </a:r>
          </a:p>
          <a:p/>
          <a:p>
            <a:r>
              <a:t>FA, Foundation Agents Protocol, goes broader. It treats humans, agents, tools, and services as entities on a network. The extra idea is federation: stable identity, discovery, routing, and relationships across hosts.</a:t>
            </a:r>
          </a:p>
          <a:p/>
          <a:p>
            <a:r>
              <a:t>The scope grows from left to right. MCP gives a model tools. A2A lets you delegate to another smart agent. FA lets agents live on a network and discover each other.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is the easiest one to understand.</a:t>
            </a:r>
          </a:p>
          <a:p/>
          <a:p>
            <a:r>
              <a:t>Think of an MCP server as a wrapper around functions. The server says: here are the functions I provide, here are their argument names and types, and here is what each function does. The LLM host, such as Claude Desktop, Cursor, or our Jupyter notebook, reads that description and can call those tools through a standard protocol.</a:t>
            </a:r>
          </a:p>
          <a:p/>
          <a:p>
            <a:r>
              <a:t>In this lab, our stock MCP server wraps `yfinance`, and our visualization MCP server wraps `matplotlib`. But the same idea could wrap a SQL query, a Stan model, a simulation, or an R script.</a:t>
            </a:r>
          </a:p>
          <a:p/>
          <a:p>
            <a:r>
              <a:t>The useful part is reuse. You write the tool server once. Any MCP-aware client can use it. You do not have to rewrite the same tool separately for every LLM application.</a:t>
            </a:r>
          </a:p>
          <a:p/>
          <a:p>
            <a:r>
              <a:t>The mental model is: MCP is the keypad for the LLM. The model decides which button to press, and MCP defines what each button means.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A2A starts when the thing you want to call is not just a tool — it is another agent.</a:t>
            </a:r>
          </a:p>
          <a:p/>
          <a:p>
            <a:r>
              <a:t>Look at the diagram. On the left, "you." On the right, an outer box marked "A2A Agent" with a hidden internal LLM loop and its own tools. You send one sentence in; you get one answer back. Everything between is invisible.</a:t>
            </a:r>
          </a:p>
          <a:p/>
          <a:p>
            <a:r>
              <a:t>That is the architectural shift from MCP: in MCP your LLM picked the tools; in A2A the callee has its own LLM and decides for itself. The caller does not need to know which tools the agent uses, in what order, or even how many it calls.</a:t>
            </a:r>
          </a:p>
          <a:p/>
          <a:p>
            <a:r>
              <a:t>A2A agents describe themselves with an agent card served at a well-known URL. The card lists name, skills, supported input and output modes, and the endpoint. A2A also models every call as a task with a status: submitted, working, completed, or failed — useful when work takes minutes.</a:t>
            </a:r>
          </a:p>
          <a:p/>
          <a:p>
            <a:r>
              <a:t>Mental model: MCP is a calculator. A2A is a phone call to a colleague. You do not press every button yourself; you delegate the problem and trust the colleague to handle it.</a:t>
            </a:r>
          </a:p>
          <a:p/>
          <a:p>
            <a:r>
              <a:t>Caveat — A2A agents may also call other A2A agents internally. The protocol does not prevent loops; depth limits, timeouts, and budgets are application concerns.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 adds a network layer.</a:t>
            </a:r>
          </a:p>
          <a:p/>
          <a:p>
            <a:r>
              <a:t>In the diagram, CloudHost is a relay. It does not need to contain an agent itself. It can just route messages. Under it, HostA contains Alice and an equity analyst. HostB contains a macro analyst.</a:t>
            </a:r>
          </a:p>
          <a:p/>
          <a:p>
            <a:r>
              <a:t>The important difference from A2A is that entities can have stable identity and can be discovered through the network. The caller does not have to hard-code every agent URL in advance.</a:t>
            </a:r>
          </a:p>
          <a:p/>
          <a:p>
            <a:r>
              <a:t>FA has several abstractions. An entity can be a human, an agent, a tool, an organization, or an arbiter. A host is where entities live and where messages route. A friend relationship is a persistent relationship between entities, created through a handshake. Federation means entities are addressed by identity rather than just by a machine URL.</a:t>
            </a:r>
          </a:p>
          <a:p/>
          <a:p>
            <a:r>
              <a:t>There are also trade primitives, such as contracts, payments, ratings, and arbitration. We will not use those in the live demo, but they are part of the reason FA is broader than just "agent calls agent."</a:t>
            </a:r>
          </a:p>
          <a:p/>
          <a:p>
            <a:r>
              <a:t>The mental model is: FA is closer to email or a postal system for agents. There are stable addresses, routing hosts, and relationships that survive beyond one HTTP call.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architectural summary. Three columns, one per protocol. Look at the diagram inside each panel.</a:t>
            </a:r>
          </a:p>
          <a:p/>
          <a:p>
            <a:r>
              <a:t>The MCP panel on the left shows two passive servers at the top with an LLM at the bottom, and arrows running from the LLM up to each server and back. The point is that the LLM is the only thing that can initiate. Servers just respond. All data passes through the LLM.</a:t>
            </a:r>
          </a:p>
          <a:p/>
          <a:p>
            <a:r>
              <a:t>The A2A panel in the middle shows "you" on the left and one A2A agent on the right. The agent's box has a smaller LLM box and a smaller tools box inside. You send one task in, the agent runs its own loop internally, and the answer comes back. The internal work is hidden — that is the architectural shift from MCP: the callee is itself a smart agent. Note that URLs are still pre-known; A2A does not have in-protocol discovery.</a:t>
            </a:r>
          </a:p>
          <a:p/>
          <a:p>
            <a:r>
              <a:t>The FA panel on the right shows a small network: a relay host at the top, two child hosts under it, and entities living inside the hosts. The arrow between the entities is labeled "discovery + routed by Entity ID." That is the FA-only thing — the caller does not need to know URLs; the host network resolves the identity and forwards the message.</a:t>
            </a:r>
          </a:p>
          <a:p/>
          <a:p>
            <a:r>
              <a:t>The progression is: MCP is LLM-centric, A2A is peer-to-peer, FA is a routed network with discovery. They are not mutually exclusive — in our demos the A2A agent uses MCP internally, and the FA equity analyst uses both MCP and FA.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concrete scenario.</a:t>
            </a:r>
          </a:p>
          <a:p/>
          <a:p>
            <a:r>
              <a:t>Suppose Dr. Lee at McGill and Dr. Wright at U of T each have AI assistants, and those assistants need to collaborate. A pure peer-to-peer setup sounds simple, but in practice it runs into infrastructure problems.</a:t>
            </a:r>
          </a:p>
          <a:p/>
          <a:p>
            <a:r>
              <a:t>Reachability is the first one. A laptop behind a campus firewall may not accept inbound connections. Identity is another one. If the agent is identified by a URL and the URL changes, links break. Audit and compliance are also hard if every agent implements them separately. Offline delivery is hard because a direct call fails when the other side is unavailable. Privacy is hard when every relay or service boundary has to be trusted independently.</a:t>
            </a:r>
          </a:p>
          <a:p/>
          <a:p>
            <a:r>
              <a:t>A federated design moves those concerns into the protocol layer. Hosts can route messages. Entity IDs can stay stable even when deployment changes. Mailboxes can queue messages. Organizations can put policy at the host boundary.</a:t>
            </a:r>
          </a:p>
          <a:p/>
          <a:p>
            <a:r>
              <a:t>So the point is not that A2A is bad. A2A is useful. The point is that once you want a network of agents across organizations, federation becomes a different design problem.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will run the same basic task through three shapes.</a:t>
            </a:r>
          </a:p>
          <a:p/>
          <a:p>
            <a:r>
              <a:t>Demo 1 is MCP. Claude gets two MCP servers: one for stock data and one for plotting. We ask a natural-language question, and Claude chooses which tools to call.</a:t>
            </a:r>
          </a:p>
          <a:p/>
          <a:p>
            <a:r>
              <a:t>Demo 2 is A2A. We start a stock analyst agent as an HTTP server. We send one sentence to that agent. The analyst agent runs its own internal Claude loop and returns a written brief.</a:t>
            </a:r>
          </a:p>
          <a:p/>
          <a:p>
            <a:r>
              <a:t>Demo 3 is FA. Alice asks an equity analyst for a stock brief with sector context. The equity analyst discovers a macro analyst on another host, calls it, and weaves the macro response into the final answer.</a:t>
            </a:r>
          </a:p>
          <a:p/>
          <a:p>
            <a:r>
              <a:t>The stock data comes from `yfinance`, so there is no market-data API key. The LLM calls use the credentials in the project `.env` file.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`demo1_mcp/01_mcp_demo.ipynb` in Jupyter and select the `ivado-lab` Python 3.12 kernel.</a:t>
            </a:r>
          </a:p>
          <a:p/>
          <a:p>
            <a:r>
              <a:t>We will go cell by cell. I will not explain every line of Python, only what each cell shows about the protocol.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end of the demo section.</a:t>
            </a:r>
          </a:p>
          <a:p/>
          <a:p>
            <a:r>
              <a:t>If you want to try this after the session, the repo is here:</a:t>
            </a:r>
          </a:p>
          <a:p/>
          <a:p>
            <a:r>
              <a:t>`https://github.com/jackwu502/ivado-protocol`</a:t>
            </a:r>
          </a:p>
          <a:p/>
          <a:p>
            <a:r>
              <a:t>If you run into setup issues or want to discuss agent protocols, feel free to email me:</a:t>
            </a:r>
          </a:p>
          <a:p/>
          <a:p>
            <a:r>
              <a:t>`dekun.wu@umontreal.ca`</a:t>
            </a:r>
          </a:p>
          <a:p/>
          <a:p>
            <a:r>
              <a:t>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ackwu502/ivado-protocol" TargetMode="External"/><Relationship Id="rId3" Type="http://schemas.openxmlformats.org/officeDocument/2006/relationships/hyperlink" Target="mailto:dekun.wu@umontreal.ca" TargetMode="External"/><Relationship Id="rId4"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377440"/>
            <a:ext cx="10972800" cy="1097280"/>
          </a:xfrm>
          <a:prstGeom prst="rect">
            <a:avLst/>
          </a:prstGeom>
          <a:noFill/>
        </p:spPr>
        <p:txBody>
          <a:bodyPr wrap="square" lIns="0" rIns="0" tIns="0" bIns="0" anchor="t">
            <a:spAutoFit/>
          </a:bodyPr>
          <a:lstStyle/>
          <a:p>
            <a:pPr algn="l"/>
            <a:r>
              <a:rPr sz="5600" b="1">
                <a:solidFill>
                  <a:srgbClr val="1A4D8F"/>
                </a:solidFill>
              </a:rPr>
              <a:t>Agent Protocols Hands-on Lab</a:t>
            </a:r>
          </a:p>
        </p:txBody>
      </p:sp>
      <p:sp>
        <p:nvSpPr>
          <p:cNvPr id="3" name="TextBox 2"/>
          <p:cNvSpPr txBox="1"/>
          <p:nvPr/>
        </p:nvSpPr>
        <p:spPr>
          <a:xfrm>
            <a:off x="548640" y="3566160"/>
            <a:ext cx="10972800" cy="731520"/>
          </a:xfrm>
          <a:prstGeom prst="rect">
            <a:avLst/>
          </a:prstGeom>
          <a:noFill/>
        </p:spPr>
        <p:txBody>
          <a:bodyPr wrap="square" lIns="0" rIns="0" tIns="0" bIns="0" anchor="t">
            <a:spAutoFit/>
          </a:bodyPr>
          <a:lstStyle/>
          <a:p>
            <a:pPr algn="l"/>
            <a:r>
              <a:rPr sz="3000" b="0">
                <a:solidFill>
                  <a:srgbClr val="222A33"/>
                </a:solidFill>
              </a:rPr>
              <a:t>MCP · A2A · FA</a:t>
            </a:r>
          </a:p>
        </p:txBody>
      </p:sp>
      <p:sp>
        <p:nvSpPr>
          <p:cNvPr id="4" name="TextBox 3"/>
          <p:cNvSpPr txBox="1"/>
          <p:nvPr/>
        </p:nvSpPr>
        <p:spPr>
          <a:xfrm>
            <a:off x="548640" y="6035040"/>
            <a:ext cx="10972800" cy="457200"/>
          </a:xfrm>
          <a:prstGeom prst="rect">
            <a:avLst/>
          </a:prstGeom>
          <a:noFill/>
        </p:spPr>
        <p:txBody>
          <a:bodyPr wrap="square" lIns="0" rIns="0" tIns="0" bIns="0" anchor="t">
            <a:spAutoFit/>
          </a:bodyPr>
          <a:lstStyle/>
          <a:p>
            <a:pPr algn="l"/>
            <a:r>
              <a:rPr sz="1600" b="0">
                <a:solidFill>
                  <a:srgbClr val="66707A"/>
                </a:solidFill>
              </a:rPr>
              <a:t>Dekun Wu · CS PhD Student, Université de Montréal · Supervisor: Prof. Bang Liu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lIns="0" rIns="0" tIns="0" bIns="0" anchor="t">
            <a:spAutoFit/>
          </a:bodyPr>
          <a:lstStyle/>
          <a:p>
            <a:pPr algn="l"/>
            <a:r>
              <a:rPr sz="3400" b="1">
                <a:solidFill>
                  <a:srgbClr val="1A4D8F"/>
                </a:solidFill>
              </a:rPr>
              <a:t>What is an LLM agent?</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606040"/>
            <a:ext cx="1188720" cy="457200"/>
          </a:xfrm>
          <a:prstGeom prst="rect">
            <a:avLst/>
          </a:prstGeom>
          <a:noFill/>
        </p:spPr>
        <p:txBody>
          <a:bodyPr wrap="square" lIns="0" rIns="0" tIns="0" bIns="0" anchor="ctr">
            <a:spAutoFit/>
          </a:bodyPr>
          <a:lstStyle/>
          <a:p>
            <a:pPr algn="ctr"/>
            <a:r>
              <a:rPr sz="2200" b="0">
                <a:solidFill>
                  <a:srgbClr val="222A33"/>
                </a:solidFill>
              </a:rPr>
              <a:t>user</a:t>
            </a:r>
          </a:p>
        </p:txBody>
      </p:sp>
      <p:cxnSp>
        <p:nvCxnSpPr>
          <p:cNvPr id="5" name="Connector 4"/>
          <p:cNvCxnSpPr/>
          <p:nvPr/>
        </p:nvCxnSpPr>
        <p:spPr>
          <a:xfrm>
            <a:off x="2194560" y="2834640"/>
            <a:ext cx="1188720" cy="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383280" y="2286000"/>
            <a:ext cx="3566160" cy="109728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0">
                <a:solidFill>
                  <a:srgbClr val="222A33"/>
                </a:solidFill>
              </a:rPr>
              <a:t>LLM</a:t>
            </a:r>
          </a:p>
          <a:p>
            <a:pPr algn="ctr"/>
            <a:r>
              <a:rPr sz="2200" b="0">
                <a:solidFill>
                  <a:srgbClr val="222A33"/>
                </a:solidFill>
              </a:rPr>
              <a:t>(reason / plan)</a:t>
            </a:r>
          </a:p>
        </p:txBody>
      </p:sp>
      <p:cxnSp>
        <p:nvCxnSpPr>
          <p:cNvPr id="7" name="Connector 6"/>
          <p:cNvCxnSpPr/>
          <p:nvPr/>
        </p:nvCxnSpPr>
        <p:spPr>
          <a:xfrm>
            <a:off x="6949440" y="2834640"/>
            <a:ext cx="1188720" cy="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138160" y="2606040"/>
            <a:ext cx="1828800" cy="457200"/>
          </a:xfrm>
          <a:prstGeom prst="rect">
            <a:avLst/>
          </a:prstGeom>
          <a:noFill/>
        </p:spPr>
        <p:txBody>
          <a:bodyPr wrap="square" lIns="0" rIns="0" tIns="0" bIns="0" anchor="ctr">
            <a:spAutoFit/>
          </a:bodyPr>
          <a:lstStyle/>
          <a:p>
            <a:pPr algn="l"/>
            <a:r>
              <a:rPr sz="2200" b="0">
                <a:solidFill>
                  <a:srgbClr val="222A33"/>
                </a:solidFill>
              </a:rPr>
              <a:t>answer</a:t>
            </a:r>
          </a:p>
        </p:txBody>
      </p:sp>
      <p:cxnSp>
        <p:nvCxnSpPr>
          <p:cNvPr id="9" name="Connector 8"/>
          <p:cNvCxnSpPr/>
          <p:nvPr/>
        </p:nvCxnSpPr>
        <p:spPr>
          <a:xfrm>
            <a:off x="5166360" y="3383280"/>
            <a:ext cx="0" cy="91440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257800" y="3749040"/>
            <a:ext cx="1097280" cy="274320"/>
          </a:xfrm>
          <a:prstGeom prst="rect">
            <a:avLst/>
          </a:prstGeom>
          <a:noFill/>
        </p:spPr>
        <p:txBody>
          <a:bodyPr wrap="square" lIns="0" rIns="0" tIns="0" bIns="0" anchor="t">
            <a:spAutoFit/>
          </a:bodyPr>
          <a:lstStyle/>
          <a:p>
            <a:pPr algn="ctr"/>
            <a:r>
              <a:rPr sz="1600" b="0">
                <a:solidFill>
                  <a:srgbClr val="66707A"/>
                </a:solidFill>
              </a:rPr>
              <a:t>tool_use</a:t>
            </a:r>
          </a:p>
        </p:txBody>
      </p:sp>
      <p:sp>
        <p:nvSpPr>
          <p:cNvPr id="11" name="Rounded Rectangle 10"/>
          <p:cNvSpPr/>
          <p:nvPr/>
        </p:nvSpPr>
        <p:spPr>
          <a:xfrm>
            <a:off x="3383280" y="4297680"/>
            <a:ext cx="3566160" cy="128016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0">
                <a:solidFill>
                  <a:srgbClr val="222A33"/>
                </a:solidFill>
              </a:rPr>
              <a:t>Tools / Data /</a:t>
            </a:r>
          </a:p>
          <a:p>
            <a:pPr algn="ctr"/>
            <a:r>
              <a:rPr sz="2200" b="0">
                <a:solidFill>
                  <a:srgbClr val="222A33"/>
                </a:solidFill>
              </a:rPr>
              <a:t>Other Agents</a:t>
            </a:r>
          </a:p>
        </p:txBody>
      </p:sp>
      <p:sp>
        <p:nvSpPr>
          <p:cNvPr id="12" name="TextBox 11"/>
          <p:cNvSpPr txBox="1"/>
          <p:nvPr/>
        </p:nvSpPr>
        <p:spPr>
          <a:xfrm>
            <a:off x="548640" y="6217920"/>
            <a:ext cx="10972800" cy="502920"/>
          </a:xfrm>
          <a:prstGeom prst="rect">
            <a:avLst/>
          </a:prstGeom>
          <a:noFill/>
        </p:spPr>
        <p:txBody>
          <a:bodyPr wrap="square" lIns="0" rIns="0" tIns="0" bIns="0" anchor="t">
            <a:spAutoFit/>
          </a:bodyPr>
          <a:lstStyle/>
          <a:p>
            <a:pPr algn="ctr"/>
            <a:r>
              <a:rPr sz="2200" b="1">
                <a:solidFill>
                  <a:srgbClr val="1A4D8F"/>
                </a:solidFill>
              </a:rPr>
              <a:t>LLM + tools + state + an autonomous decision loop.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lIns="0" rIns="0" tIns="0" bIns="0" anchor="t">
            <a:spAutoFit/>
          </a:bodyPr>
          <a:lstStyle/>
          <a:p>
            <a:pPr algn="l"/>
            <a:r>
              <a:rPr sz="3400" b="1">
                <a:solidFill>
                  <a:srgbClr val="1A4D8F"/>
                </a:solidFill>
              </a:rPr>
              <a:t>Three protocols, three scopes</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34440"/>
            <a:ext cx="10972800" cy="365760"/>
          </a:xfrm>
          <a:prstGeom prst="rect">
            <a:avLst/>
          </a:prstGeom>
          <a:noFill/>
        </p:spPr>
        <p:txBody>
          <a:bodyPr wrap="square" lIns="0" rIns="0" tIns="0" bIns="0" anchor="t">
            <a:spAutoFit/>
          </a:bodyPr>
          <a:lstStyle/>
          <a:p>
            <a:pPr algn="l"/>
            <a:r>
              <a:rPr sz="2000" b="1">
                <a:solidFill>
                  <a:srgbClr val="1A4D8F"/>
                </a:solidFill>
              </a:rPr>
              <a:t>Scope grows →</a:t>
            </a:r>
          </a:p>
        </p:txBody>
      </p:sp>
      <p:cxnSp>
        <p:nvCxnSpPr>
          <p:cNvPr id="5" name="Connector 4"/>
          <p:cNvCxnSpPr/>
          <p:nvPr/>
        </p:nvCxnSpPr>
        <p:spPr>
          <a:xfrm>
            <a:off x="2286000" y="1691640"/>
            <a:ext cx="9052560" cy="0"/>
          </a:xfrm>
          <a:prstGeom prst="bentConnector3">
            <a:avLst/>
          </a:prstGeom>
          <a:ln w="2540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48640" y="2011680"/>
            <a:ext cx="3611880" cy="3657600"/>
          </a:xfrm>
          <a:prstGeom prst="roundRect">
            <a:avLst/>
          </a:prstGeom>
          <a:solidFill>
            <a:srgbClr val="F0F4F8"/>
          </a:solidFill>
          <a:ln w="19050">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48840"/>
            <a:ext cx="3246120" cy="640080"/>
          </a:xfrm>
          <a:prstGeom prst="rect">
            <a:avLst/>
          </a:prstGeom>
          <a:noFill/>
        </p:spPr>
        <p:txBody>
          <a:bodyPr wrap="square" lIns="0" rIns="0" tIns="0" bIns="0" anchor="t">
            <a:spAutoFit/>
          </a:bodyPr>
          <a:lstStyle/>
          <a:p>
            <a:pPr algn="ctr"/>
            <a:r>
              <a:rPr sz="3800" b="1">
                <a:solidFill>
                  <a:srgbClr val="1A4D8F"/>
                </a:solidFill>
              </a:rPr>
              <a:t>MCP</a:t>
            </a:r>
          </a:p>
        </p:txBody>
      </p:sp>
      <p:sp>
        <p:nvSpPr>
          <p:cNvPr id="8" name="TextBox 7"/>
          <p:cNvSpPr txBox="1"/>
          <p:nvPr/>
        </p:nvSpPr>
        <p:spPr>
          <a:xfrm>
            <a:off x="731520" y="2788920"/>
            <a:ext cx="3246120" cy="320040"/>
          </a:xfrm>
          <a:prstGeom prst="rect">
            <a:avLst/>
          </a:prstGeom>
          <a:noFill/>
        </p:spPr>
        <p:txBody>
          <a:bodyPr wrap="square" lIns="0" rIns="0" tIns="0" bIns="0" anchor="t">
            <a:spAutoFit/>
          </a:bodyPr>
          <a:lstStyle/>
          <a:p>
            <a:pPr algn="ctr"/>
            <a:r>
              <a:rPr sz="1500" b="0">
                <a:solidFill>
                  <a:srgbClr val="222A33"/>
                </a:solidFill>
              </a:rPr>
              <a:t>Model Context Protocol</a:t>
            </a:r>
          </a:p>
        </p:txBody>
      </p:sp>
      <p:sp>
        <p:nvSpPr>
          <p:cNvPr id="9" name="TextBox 8"/>
          <p:cNvSpPr txBox="1"/>
          <p:nvPr/>
        </p:nvSpPr>
        <p:spPr>
          <a:xfrm>
            <a:off x="731520" y="3090672"/>
            <a:ext cx="3246120" cy="274320"/>
          </a:xfrm>
          <a:prstGeom prst="rect">
            <a:avLst/>
          </a:prstGeom>
          <a:noFill/>
        </p:spPr>
        <p:txBody>
          <a:bodyPr wrap="square" lIns="0" rIns="0" tIns="0" bIns="0" anchor="t">
            <a:spAutoFit/>
          </a:bodyPr>
          <a:lstStyle/>
          <a:p>
            <a:pPr algn="ctr"/>
            <a:r>
              <a:rPr sz="1300" b="0">
                <a:solidFill>
                  <a:srgbClr val="66707A"/>
                </a:solidFill>
              </a:rPr>
              <a:t>by Anthropic</a:t>
            </a:r>
          </a:p>
        </p:txBody>
      </p:sp>
      <p:sp>
        <p:nvSpPr>
          <p:cNvPr id="10" name="Rectangle 9"/>
          <p:cNvSpPr/>
          <p:nvPr/>
        </p:nvSpPr>
        <p:spPr>
          <a:xfrm>
            <a:off x="1005840" y="3474720"/>
            <a:ext cx="2697480" cy="15000"/>
          </a:xfrm>
          <a:prstGeom prst="rect">
            <a:avLst/>
          </a:prstGeom>
          <a:solidFill>
            <a:srgbClr val="667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11880"/>
            <a:ext cx="3246120" cy="457200"/>
          </a:xfrm>
          <a:prstGeom prst="rect">
            <a:avLst/>
          </a:prstGeom>
          <a:noFill/>
        </p:spPr>
        <p:txBody>
          <a:bodyPr wrap="square" lIns="0" rIns="0" tIns="0" bIns="0" anchor="t">
            <a:spAutoFit/>
          </a:bodyPr>
          <a:lstStyle/>
          <a:p>
            <a:pPr algn="ctr"/>
            <a:r>
              <a:rPr sz="1700" b="1">
                <a:solidFill>
                  <a:srgbClr val="222A33"/>
                </a:solidFill>
              </a:rPr>
              <a:t>LLM ↔ tools / data</a:t>
            </a:r>
          </a:p>
        </p:txBody>
      </p:sp>
      <p:sp>
        <p:nvSpPr>
          <p:cNvPr id="12" name="TextBox 11"/>
          <p:cNvSpPr txBox="1"/>
          <p:nvPr/>
        </p:nvSpPr>
        <p:spPr>
          <a:xfrm>
            <a:off x="822960" y="4206240"/>
            <a:ext cx="3063240" cy="1371600"/>
          </a:xfrm>
          <a:prstGeom prst="rect">
            <a:avLst/>
          </a:prstGeom>
          <a:noFill/>
        </p:spPr>
        <p:txBody>
          <a:bodyPr wrap="square" lIns="0" rIns="0" tIns="0" bIns="0">
            <a:spAutoFit/>
          </a:bodyPr>
          <a:lstStyle/>
          <a:p>
            <a:pPr algn="l">
              <a:spcAft>
                <a:spcPts val="600"/>
              </a:spcAft>
            </a:pPr>
            <a:r>
              <a:rPr sz="1500">
                <a:solidFill>
                  <a:srgbClr val="222A33"/>
                </a:solidFill>
              </a:rPr>
              <a:t>• Agent calls fixed functions</a:t>
            </a:r>
          </a:p>
          <a:p>
            <a:pPr algn="l">
              <a:spcAft>
                <a:spcPts val="600"/>
              </a:spcAft>
            </a:pPr>
            <a:r>
              <a:rPr sz="1500">
                <a:solidFill>
                  <a:srgbClr val="222A33"/>
                </a:solidFill>
              </a:rPr>
              <a:t>• Schemas auto-generated</a:t>
            </a:r>
          </a:p>
          <a:p>
            <a:pPr algn="l">
              <a:spcAft>
                <a:spcPts val="600"/>
              </a:spcAft>
            </a:pPr>
            <a:r>
              <a:rPr sz="1500">
                <a:solidFill>
                  <a:srgbClr val="222A33"/>
                </a:solidFill>
              </a:rPr>
              <a:t>• Stable, mature ecosystem</a:t>
            </a:r>
          </a:p>
        </p:txBody>
      </p:sp>
      <p:sp>
        <p:nvSpPr>
          <p:cNvPr id="13" name="Rounded Rectangle 12"/>
          <p:cNvSpPr/>
          <p:nvPr/>
        </p:nvSpPr>
        <p:spPr>
          <a:xfrm>
            <a:off x="4297680" y="2011680"/>
            <a:ext cx="3611880" cy="3657600"/>
          </a:xfrm>
          <a:prstGeom prst="roundRect">
            <a:avLst/>
          </a:prstGeom>
          <a:solidFill>
            <a:srgbClr val="F0F4F8"/>
          </a:solidFill>
          <a:ln w="19050">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2148840"/>
            <a:ext cx="3246120" cy="640080"/>
          </a:xfrm>
          <a:prstGeom prst="rect">
            <a:avLst/>
          </a:prstGeom>
          <a:noFill/>
        </p:spPr>
        <p:txBody>
          <a:bodyPr wrap="square" lIns="0" rIns="0" tIns="0" bIns="0" anchor="t">
            <a:spAutoFit/>
          </a:bodyPr>
          <a:lstStyle/>
          <a:p>
            <a:pPr algn="ctr"/>
            <a:r>
              <a:rPr sz="3800" b="1">
                <a:solidFill>
                  <a:srgbClr val="1A4D8F"/>
                </a:solidFill>
              </a:rPr>
              <a:t>A2A</a:t>
            </a:r>
          </a:p>
        </p:txBody>
      </p:sp>
      <p:sp>
        <p:nvSpPr>
          <p:cNvPr id="15" name="TextBox 14"/>
          <p:cNvSpPr txBox="1"/>
          <p:nvPr/>
        </p:nvSpPr>
        <p:spPr>
          <a:xfrm>
            <a:off x="4480560" y="2788920"/>
            <a:ext cx="3246120" cy="320040"/>
          </a:xfrm>
          <a:prstGeom prst="rect">
            <a:avLst/>
          </a:prstGeom>
          <a:noFill/>
        </p:spPr>
        <p:txBody>
          <a:bodyPr wrap="square" lIns="0" rIns="0" tIns="0" bIns="0" anchor="t">
            <a:spAutoFit/>
          </a:bodyPr>
          <a:lstStyle/>
          <a:p>
            <a:pPr algn="ctr"/>
            <a:r>
              <a:rPr sz="1500" b="0">
                <a:solidFill>
                  <a:srgbClr val="222A33"/>
                </a:solidFill>
              </a:rPr>
              <a:t>Agent-to-Agent</a:t>
            </a:r>
          </a:p>
        </p:txBody>
      </p:sp>
      <p:sp>
        <p:nvSpPr>
          <p:cNvPr id="16" name="TextBox 15"/>
          <p:cNvSpPr txBox="1"/>
          <p:nvPr/>
        </p:nvSpPr>
        <p:spPr>
          <a:xfrm>
            <a:off x="4480560" y="3090672"/>
            <a:ext cx="3246120" cy="274320"/>
          </a:xfrm>
          <a:prstGeom prst="rect">
            <a:avLst/>
          </a:prstGeom>
          <a:noFill/>
        </p:spPr>
        <p:txBody>
          <a:bodyPr wrap="square" lIns="0" rIns="0" tIns="0" bIns="0" anchor="t">
            <a:spAutoFit/>
          </a:bodyPr>
          <a:lstStyle/>
          <a:p>
            <a:pPr algn="ctr"/>
            <a:r>
              <a:rPr sz="1300" b="0">
                <a:solidFill>
                  <a:srgbClr val="66707A"/>
                </a:solidFill>
              </a:rPr>
              <a:t>by Google</a:t>
            </a:r>
          </a:p>
        </p:txBody>
      </p:sp>
      <p:sp>
        <p:nvSpPr>
          <p:cNvPr id="17" name="Rectangle 16"/>
          <p:cNvSpPr/>
          <p:nvPr/>
        </p:nvSpPr>
        <p:spPr>
          <a:xfrm>
            <a:off x="4754880" y="3474720"/>
            <a:ext cx="2697480" cy="15000"/>
          </a:xfrm>
          <a:prstGeom prst="rect">
            <a:avLst/>
          </a:prstGeom>
          <a:solidFill>
            <a:srgbClr val="667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3611880"/>
            <a:ext cx="3246120" cy="457200"/>
          </a:xfrm>
          <a:prstGeom prst="rect">
            <a:avLst/>
          </a:prstGeom>
          <a:noFill/>
        </p:spPr>
        <p:txBody>
          <a:bodyPr wrap="square" lIns="0" rIns="0" tIns="0" bIns="0" anchor="t">
            <a:spAutoFit/>
          </a:bodyPr>
          <a:lstStyle/>
          <a:p>
            <a:pPr algn="ctr"/>
            <a:r>
              <a:rPr sz="1700" b="1">
                <a:solidFill>
                  <a:srgbClr val="222A33"/>
                </a:solidFill>
              </a:rPr>
              <a:t>Agent ↔ Agent</a:t>
            </a:r>
          </a:p>
        </p:txBody>
      </p:sp>
      <p:sp>
        <p:nvSpPr>
          <p:cNvPr id="19" name="TextBox 18"/>
          <p:cNvSpPr txBox="1"/>
          <p:nvPr/>
        </p:nvSpPr>
        <p:spPr>
          <a:xfrm>
            <a:off x="4572000" y="4206240"/>
            <a:ext cx="3063240" cy="1371600"/>
          </a:xfrm>
          <a:prstGeom prst="rect">
            <a:avLst/>
          </a:prstGeom>
          <a:noFill/>
        </p:spPr>
        <p:txBody>
          <a:bodyPr wrap="square" lIns="0" rIns="0" tIns="0" bIns="0">
            <a:spAutoFit/>
          </a:bodyPr>
          <a:lstStyle/>
          <a:p>
            <a:pPr algn="l">
              <a:spcAft>
                <a:spcPts val="600"/>
              </a:spcAft>
            </a:pPr>
            <a:r>
              <a:rPr sz="1500">
                <a:solidFill>
                  <a:srgbClr val="222A33"/>
                </a:solidFill>
              </a:rPr>
              <a:t>• Callee is itself a smart agent</a:t>
            </a:r>
          </a:p>
          <a:p>
            <a:pPr algn="l">
              <a:spcAft>
                <a:spcPts val="600"/>
              </a:spcAft>
            </a:pPr>
            <a:r>
              <a:rPr sz="1500">
                <a:solidFill>
                  <a:srgbClr val="222A33"/>
                </a:solidFill>
              </a:rPr>
              <a:t>• Self-description via Agent Card</a:t>
            </a:r>
          </a:p>
          <a:p>
            <a:pPr algn="l">
              <a:spcAft>
                <a:spcPts val="600"/>
              </a:spcAft>
            </a:pPr>
            <a:r>
              <a:rPr sz="1500">
                <a:solidFill>
                  <a:srgbClr val="222A33"/>
                </a:solidFill>
              </a:rPr>
              <a:t>• Tasks have a lifecycle</a:t>
            </a:r>
          </a:p>
        </p:txBody>
      </p:sp>
      <p:sp>
        <p:nvSpPr>
          <p:cNvPr id="20" name="Rounded Rectangle 19"/>
          <p:cNvSpPr/>
          <p:nvPr/>
        </p:nvSpPr>
        <p:spPr>
          <a:xfrm>
            <a:off x="8046720" y="2011680"/>
            <a:ext cx="3611880" cy="3657600"/>
          </a:xfrm>
          <a:prstGeom prst="roundRect">
            <a:avLst/>
          </a:prstGeom>
          <a:solidFill>
            <a:srgbClr val="F0F4F8"/>
          </a:solidFill>
          <a:ln w="19050">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0" y="2148840"/>
            <a:ext cx="3246120" cy="640080"/>
          </a:xfrm>
          <a:prstGeom prst="rect">
            <a:avLst/>
          </a:prstGeom>
          <a:noFill/>
        </p:spPr>
        <p:txBody>
          <a:bodyPr wrap="square" lIns="0" rIns="0" tIns="0" bIns="0" anchor="t">
            <a:spAutoFit/>
          </a:bodyPr>
          <a:lstStyle/>
          <a:p>
            <a:pPr algn="ctr"/>
            <a:r>
              <a:rPr sz="3800" b="1">
                <a:solidFill>
                  <a:srgbClr val="1A4D8F"/>
                </a:solidFill>
              </a:rPr>
              <a:t>FA</a:t>
            </a:r>
          </a:p>
        </p:txBody>
      </p:sp>
      <p:sp>
        <p:nvSpPr>
          <p:cNvPr id="22" name="TextBox 21"/>
          <p:cNvSpPr txBox="1"/>
          <p:nvPr/>
        </p:nvSpPr>
        <p:spPr>
          <a:xfrm>
            <a:off x="8229600" y="2788920"/>
            <a:ext cx="3246120" cy="320040"/>
          </a:xfrm>
          <a:prstGeom prst="rect">
            <a:avLst/>
          </a:prstGeom>
          <a:noFill/>
        </p:spPr>
        <p:txBody>
          <a:bodyPr wrap="square" lIns="0" rIns="0" tIns="0" bIns="0" anchor="t">
            <a:spAutoFit/>
          </a:bodyPr>
          <a:lstStyle/>
          <a:p>
            <a:pPr algn="ctr"/>
            <a:r>
              <a:rPr sz="1500" b="0">
                <a:solidFill>
                  <a:srgbClr val="222A33"/>
                </a:solidFill>
              </a:rPr>
              <a:t>Foundation Agents Protocol</a:t>
            </a:r>
          </a:p>
        </p:txBody>
      </p:sp>
      <p:sp>
        <p:nvSpPr>
          <p:cNvPr id="23" name="TextBox 22"/>
          <p:cNvSpPr txBox="1"/>
          <p:nvPr/>
        </p:nvSpPr>
        <p:spPr>
          <a:xfrm>
            <a:off x="8229600" y="3090672"/>
            <a:ext cx="3246120" cy="274320"/>
          </a:xfrm>
          <a:prstGeom prst="rect">
            <a:avLst/>
          </a:prstGeom>
          <a:noFill/>
        </p:spPr>
        <p:txBody>
          <a:bodyPr wrap="square" lIns="0" rIns="0" tIns="0" bIns="0" anchor="t">
            <a:spAutoFit/>
          </a:bodyPr>
          <a:lstStyle/>
          <a:p>
            <a:pPr algn="ctr"/>
            <a:r>
              <a:rPr sz="1300" b="0">
                <a:solidFill>
                  <a:srgbClr val="66707A"/>
                </a:solidFill>
              </a:rPr>
              <a:t>by DeepWisdom (collaborator)</a:t>
            </a:r>
          </a:p>
        </p:txBody>
      </p:sp>
      <p:sp>
        <p:nvSpPr>
          <p:cNvPr id="24" name="Rectangle 23"/>
          <p:cNvSpPr/>
          <p:nvPr/>
        </p:nvSpPr>
        <p:spPr>
          <a:xfrm>
            <a:off x="8503920" y="3474720"/>
            <a:ext cx="2697480" cy="15000"/>
          </a:xfrm>
          <a:prstGeom prst="rect">
            <a:avLst/>
          </a:prstGeom>
          <a:solidFill>
            <a:srgbClr val="667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0" y="3611880"/>
            <a:ext cx="3246120" cy="457200"/>
          </a:xfrm>
          <a:prstGeom prst="rect">
            <a:avLst/>
          </a:prstGeom>
          <a:noFill/>
        </p:spPr>
        <p:txBody>
          <a:bodyPr wrap="square" lIns="0" rIns="0" tIns="0" bIns="0" anchor="t">
            <a:spAutoFit/>
          </a:bodyPr>
          <a:lstStyle/>
          <a:p>
            <a:pPr algn="ctr"/>
            <a:r>
              <a:rPr sz="1700" b="1">
                <a:solidFill>
                  <a:srgbClr val="222A33"/>
                </a:solidFill>
              </a:rPr>
              <a:t>Humans / Agents / Tools / Services</a:t>
            </a:r>
          </a:p>
        </p:txBody>
      </p:sp>
      <p:sp>
        <p:nvSpPr>
          <p:cNvPr id="26" name="TextBox 25"/>
          <p:cNvSpPr txBox="1"/>
          <p:nvPr/>
        </p:nvSpPr>
        <p:spPr>
          <a:xfrm>
            <a:off x="8321040" y="4206240"/>
            <a:ext cx="3063240" cy="1371600"/>
          </a:xfrm>
          <a:prstGeom prst="rect">
            <a:avLst/>
          </a:prstGeom>
          <a:noFill/>
        </p:spPr>
        <p:txBody>
          <a:bodyPr wrap="square" lIns="0" rIns="0" tIns="0" bIns="0">
            <a:spAutoFit/>
          </a:bodyPr>
          <a:lstStyle/>
          <a:p>
            <a:pPr algn="l">
              <a:spcAft>
                <a:spcPts val="600"/>
              </a:spcAft>
            </a:pPr>
            <a:r>
              <a:rPr sz="1500">
                <a:solidFill>
                  <a:srgbClr val="222A33"/>
                </a:solidFill>
              </a:rPr>
              <a:t>• Federated network of entities</a:t>
            </a:r>
          </a:p>
          <a:p>
            <a:pPr algn="l">
              <a:spcAft>
                <a:spcPts val="600"/>
              </a:spcAft>
            </a:pPr>
            <a:r>
              <a:rPr sz="1500">
                <a:solidFill>
                  <a:srgbClr val="222A33"/>
                </a:solidFill>
              </a:rPr>
              <a:t>• Discovery + persistent identity</a:t>
            </a:r>
          </a:p>
          <a:p>
            <a:pPr algn="l">
              <a:spcAft>
                <a:spcPts val="600"/>
              </a:spcAft>
            </a:pPr>
            <a:r>
              <a:rPr sz="1500">
                <a:solidFill>
                  <a:srgbClr val="222A33"/>
                </a:solidFill>
              </a:rPr>
              <a:t>• Trade primitives built in</a:t>
            </a:r>
          </a:p>
        </p:txBody>
      </p:sp>
      <p:sp>
        <p:nvSpPr>
          <p:cNvPr id="27" name="TextBox 26"/>
          <p:cNvSpPr txBox="1"/>
          <p:nvPr/>
        </p:nvSpPr>
        <p:spPr>
          <a:xfrm>
            <a:off x="548640" y="5989320"/>
            <a:ext cx="10972800" cy="548640"/>
          </a:xfrm>
          <a:prstGeom prst="rect">
            <a:avLst/>
          </a:prstGeom>
          <a:noFill/>
        </p:spPr>
        <p:txBody>
          <a:bodyPr wrap="square" lIns="0" rIns="0" tIns="0" bIns="0" anchor="t">
            <a:spAutoFit/>
          </a:bodyPr>
          <a:lstStyle/>
          <a:p>
            <a:pPr algn="ctr"/>
            <a:r>
              <a:rPr sz="2000" b="0">
                <a:solidFill>
                  <a:srgbClr val="66707A"/>
                </a:solidFill>
              </a:rPr>
              <a:t>Each card adds something the one to its left cannot 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lIns="0" rIns="0" tIns="0" bIns="0" anchor="t">
            <a:spAutoFit/>
          </a:bodyPr>
          <a:lstStyle/>
          <a:p>
            <a:pPr algn="l"/>
            <a:r>
              <a:rPr sz="3400" b="1">
                <a:solidFill>
                  <a:srgbClr val="1A4D8F"/>
                </a:solidFill>
              </a:rPr>
              <a:t>MCP — agent to tools</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17320"/>
            <a:ext cx="3108960" cy="128016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A33"/>
                </a:solidFill>
              </a:rPr>
              <a:t>MCP Server 1</a:t>
            </a:r>
          </a:p>
          <a:p>
            <a:pPr algn="ctr"/>
            <a:r>
              <a:rPr sz="1500" b="0">
                <a:solidFill>
                  <a:srgbClr val="222A33"/>
                </a:solidFill>
              </a:rPr>
              <a:t>(passive — only responds)</a:t>
            </a:r>
          </a:p>
        </p:txBody>
      </p:sp>
      <p:sp>
        <p:nvSpPr>
          <p:cNvPr id="5" name="Rounded Rectangle 4"/>
          <p:cNvSpPr/>
          <p:nvPr/>
        </p:nvSpPr>
        <p:spPr>
          <a:xfrm>
            <a:off x="8321040" y="1417320"/>
            <a:ext cx="3108960" cy="128016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A33"/>
                </a:solidFill>
              </a:rPr>
              <a:t>MCP Server 2</a:t>
            </a:r>
          </a:p>
          <a:p>
            <a:pPr algn="ctr"/>
            <a:r>
              <a:rPr sz="1500" b="0">
                <a:solidFill>
                  <a:srgbClr val="222A33"/>
                </a:solidFill>
              </a:rPr>
              <a:t>(passive — only responds)</a:t>
            </a:r>
          </a:p>
        </p:txBody>
      </p:sp>
      <p:sp>
        <p:nvSpPr>
          <p:cNvPr id="6" name="Rounded Rectangle 5"/>
          <p:cNvSpPr/>
          <p:nvPr/>
        </p:nvSpPr>
        <p:spPr>
          <a:xfrm>
            <a:off x="4572000" y="1417320"/>
            <a:ext cx="3017520" cy="128016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222A33"/>
                </a:solidFill>
              </a:rPr>
              <a:t>LLM (host)</a:t>
            </a:r>
          </a:p>
          <a:p>
            <a:pPr algn="ctr"/>
            <a:r>
              <a:rPr sz="1800" b="0">
                <a:solidFill>
                  <a:srgbClr val="222A33"/>
                </a:solidFill>
              </a:rPr>
              <a:t>orchestrates · analyzes</a:t>
            </a:r>
          </a:p>
        </p:txBody>
      </p:sp>
      <p:cxnSp>
        <p:nvCxnSpPr>
          <p:cNvPr id="7" name="Connector 6"/>
          <p:cNvCxnSpPr/>
          <p:nvPr/>
        </p:nvCxnSpPr>
        <p:spPr>
          <a:xfrm flipH="1">
            <a:off x="3840480" y="1874519"/>
            <a:ext cx="731520" cy="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657600" y="1581911"/>
            <a:ext cx="1097280" cy="274320"/>
          </a:xfrm>
          <a:prstGeom prst="rect">
            <a:avLst/>
          </a:prstGeom>
          <a:noFill/>
        </p:spPr>
        <p:txBody>
          <a:bodyPr wrap="square" lIns="0" rIns="0" tIns="0" bIns="0" anchor="t">
            <a:spAutoFit/>
          </a:bodyPr>
          <a:lstStyle/>
          <a:p>
            <a:pPr algn="ctr"/>
            <a:r>
              <a:rPr sz="1600" b="0">
                <a:solidFill>
                  <a:srgbClr val="66707A"/>
                </a:solidFill>
              </a:rPr>
              <a:t>① ask</a:t>
            </a:r>
          </a:p>
        </p:txBody>
      </p:sp>
      <p:cxnSp>
        <p:nvCxnSpPr>
          <p:cNvPr id="9" name="Connector 8"/>
          <p:cNvCxnSpPr/>
          <p:nvPr/>
        </p:nvCxnSpPr>
        <p:spPr>
          <a:xfrm>
            <a:off x="3840480" y="2286000"/>
            <a:ext cx="731520" cy="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57600" y="2331720"/>
            <a:ext cx="1097280" cy="274320"/>
          </a:xfrm>
          <a:prstGeom prst="rect">
            <a:avLst/>
          </a:prstGeom>
          <a:noFill/>
        </p:spPr>
        <p:txBody>
          <a:bodyPr wrap="square" lIns="0" rIns="0" tIns="0" bIns="0" anchor="t">
            <a:spAutoFit/>
          </a:bodyPr>
          <a:lstStyle/>
          <a:p>
            <a:pPr algn="ctr"/>
            <a:r>
              <a:rPr sz="1600" b="0">
                <a:solidFill>
                  <a:srgbClr val="66707A"/>
                </a:solidFill>
              </a:rPr>
              <a:t>② data</a:t>
            </a:r>
          </a:p>
        </p:txBody>
      </p:sp>
      <p:cxnSp>
        <p:nvCxnSpPr>
          <p:cNvPr id="11" name="Connector 10"/>
          <p:cNvCxnSpPr/>
          <p:nvPr/>
        </p:nvCxnSpPr>
        <p:spPr>
          <a:xfrm>
            <a:off x="7589520" y="1874519"/>
            <a:ext cx="731520" cy="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06640" y="1581911"/>
            <a:ext cx="1097280" cy="274320"/>
          </a:xfrm>
          <a:prstGeom prst="rect">
            <a:avLst/>
          </a:prstGeom>
          <a:noFill/>
        </p:spPr>
        <p:txBody>
          <a:bodyPr wrap="square" lIns="0" rIns="0" tIns="0" bIns="0" anchor="t">
            <a:spAutoFit/>
          </a:bodyPr>
          <a:lstStyle/>
          <a:p>
            <a:pPr algn="ctr"/>
            <a:r>
              <a:rPr sz="1600" b="0">
                <a:solidFill>
                  <a:srgbClr val="66707A"/>
                </a:solidFill>
              </a:rPr>
              <a:t>③ ask</a:t>
            </a:r>
          </a:p>
        </p:txBody>
      </p:sp>
      <p:cxnSp>
        <p:nvCxnSpPr>
          <p:cNvPr id="13" name="Connector 12"/>
          <p:cNvCxnSpPr/>
          <p:nvPr/>
        </p:nvCxnSpPr>
        <p:spPr>
          <a:xfrm flipH="1">
            <a:off x="7589520" y="2286000"/>
            <a:ext cx="731520" cy="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06640" y="2331720"/>
            <a:ext cx="1097280" cy="274320"/>
          </a:xfrm>
          <a:prstGeom prst="rect">
            <a:avLst/>
          </a:prstGeom>
          <a:noFill/>
        </p:spPr>
        <p:txBody>
          <a:bodyPr wrap="square" lIns="0" rIns="0" tIns="0" bIns="0" anchor="t">
            <a:spAutoFit/>
          </a:bodyPr>
          <a:lstStyle/>
          <a:p>
            <a:pPr algn="ctr"/>
            <a:r>
              <a:rPr sz="1600" b="0">
                <a:solidFill>
                  <a:srgbClr val="66707A"/>
                </a:solidFill>
              </a:rPr>
              <a:t>④ result</a:t>
            </a:r>
          </a:p>
        </p:txBody>
      </p:sp>
      <p:sp>
        <p:nvSpPr>
          <p:cNvPr id="15" name="TextBox 14"/>
          <p:cNvSpPr txBox="1"/>
          <p:nvPr/>
        </p:nvSpPr>
        <p:spPr>
          <a:xfrm>
            <a:off x="731520" y="2880360"/>
            <a:ext cx="10698480" cy="365760"/>
          </a:xfrm>
          <a:prstGeom prst="rect">
            <a:avLst/>
          </a:prstGeom>
          <a:noFill/>
        </p:spPr>
        <p:txBody>
          <a:bodyPr wrap="square" lIns="0" rIns="0" tIns="0" bIns="0" anchor="t">
            <a:spAutoFit/>
          </a:bodyPr>
          <a:lstStyle/>
          <a:p>
            <a:pPr algn="ctr"/>
            <a:r>
              <a:rPr sz="1500" b="1">
                <a:solidFill>
                  <a:srgbClr val="1A4D8F"/>
                </a:solidFill>
              </a:rPr>
              <a:t>All data routes through the LLM. Servers don't talk to each other.</a:t>
            </a:r>
          </a:p>
        </p:txBody>
      </p:sp>
      <p:sp>
        <p:nvSpPr>
          <p:cNvPr id="16" name="TextBox 15"/>
          <p:cNvSpPr txBox="1"/>
          <p:nvPr/>
        </p:nvSpPr>
        <p:spPr>
          <a:xfrm>
            <a:off x="640080" y="3977639"/>
            <a:ext cx="4572000" cy="365760"/>
          </a:xfrm>
          <a:prstGeom prst="rect">
            <a:avLst/>
          </a:prstGeom>
          <a:noFill/>
        </p:spPr>
        <p:txBody>
          <a:bodyPr wrap="square" lIns="0" rIns="0" tIns="0" bIns="0" anchor="t">
            <a:spAutoFit/>
          </a:bodyPr>
          <a:lstStyle/>
          <a:p>
            <a:pPr algn="l"/>
            <a:r>
              <a:rPr sz="1800" b="1">
                <a:solidFill>
                  <a:srgbClr val="1A4D8F"/>
                </a:solidFill>
              </a:rPr>
              <a:t>A server exposes …</a:t>
            </a:r>
          </a:p>
        </p:txBody>
      </p:sp>
      <p:sp>
        <p:nvSpPr>
          <p:cNvPr id="17" name="TextBox 16"/>
          <p:cNvSpPr txBox="1"/>
          <p:nvPr/>
        </p:nvSpPr>
        <p:spPr>
          <a:xfrm>
            <a:off x="6400800" y="3977639"/>
            <a:ext cx="4572000" cy="365760"/>
          </a:xfrm>
          <a:prstGeom prst="rect">
            <a:avLst/>
          </a:prstGeom>
          <a:noFill/>
        </p:spPr>
        <p:txBody>
          <a:bodyPr wrap="square" lIns="0" rIns="0" tIns="0" bIns="0" anchor="t">
            <a:spAutoFit/>
          </a:bodyPr>
          <a:lstStyle/>
          <a:p>
            <a:pPr algn="l"/>
            <a:r>
              <a:rPr sz="1800" b="1">
                <a:solidFill>
                  <a:srgbClr val="1A4D8F"/>
                </a:solidFill>
              </a:rPr>
              <a:t>Use it when …</a:t>
            </a:r>
          </a:p>
        </p:txBody>
      </p:sp>
      <p:sp>
        <p:nvSpPr>
          <p:cNvPr id="18" name="TextBox 17"/>
          <p:cNvSpPr txBox="1"/>
          <p:nvPr/>
        </p:nvSpPr>
        <p:spPr>
          <a:xfrm>
            <a:off x="640080" y="4434840"/>
            <a:ext cx="5486400" cy="1554480"/>
          </a:xfrm>
          <a:prstGeom prst="rect">
            <a:avLst/>
          </a:prstGeom>
          <a:noFill/>
        </p:spPr>
        <p:txBody>
          <a:bodyPr wrap="square" lIns="0" rIns="0" tIns="0" bIns="0">
            <a:spAutoFit/>
          </a:bodyPr>
          <a:lstStyle/>
          <a:p>
            <a:pPr algn="l">
              <a:spcAft>
                <a:spcPts val="600"/>
              </a:spcAft>
            </a:pPr>
            <a:r>
              <a:rPr sz="1800" b="0">
                <a:solidFill>
                  <a:srgbClr val="222A33"/>
                </a:solidFill>
              </a:rPr>
              <a:t>• </a:t>
            </a:r>
            <a:r>
              <a:rPr sz="1800" b="1">
                <a:solidFill>
                  <a:srgbClr val="222A33"/>
                </a:solidFill>
              </a:rPr>
              <a:t>Tools</a:t>
            </a:r>
            <a:r>
              <a:rPr sz="1800" b="0">
                <a:solidFill>
                  <a:srgbClr val="222A33"/>
                </a:solidFill>
              </a:rPr>
              <a:t> — functions the LLM can call</a:t>
            </a:r>
          </a:p>
          <a:p>
            <a:pPr algn="l">
              <a:spcAft>
                <a:spcPts val="600"/>
              </a:spcAft>
            </a:pPr>
            <a:r>
              <a:rPr sz="1800" b="0">
                <a:solidFill>
                  <a:srgbClr val="222A33"/>
                </a:solidFill>
              </a:rPr>
              <a:t>• </a:t>
            </a:r>
            <a:r>
              <a:rPr sz="1800" b="1">
                <a:solidFill>
                  <a:srgbClr val="222A33"/>
                </a:solidFill>
              </a:rPr>
              <a:t>Resources</a:t>
            </a:r>
            <a:r>
              <a:rPr sz="1800" b="0">
                <a:solidFill>
                  <a:srgbClr val="222A33"/>
                </a:solidFill>
              </a:rPr>
              <a:t> — data the LLM can read</a:t>
            </a:r>
          </a:p>
          <a:p>
            <a:pPr algn="l">
              <a:spcAft>
                <a:spcPts val="600"/>
              </a:spcAft>
            </a:pPr>
            <a:r>
              <a:rPr sz="1800" b="0">
                <a:solidFill>
                  <a:srgbClr val="222A33"/>
                </a:solidFill>
              </a:rPr>
              <a:t>• </a:t>
            </a:r>
            <a:r>
              <a:rPr sz="1800" b="1">
                <a:solidFill>
                  <a:srgbClr val="222A33"/>
                </a:solidFill>
              </a:rPr>
              <a:t>Prompts</a:t>
            </a:r>
            <a:r>
              <a:rPr sz="1800" b="0">
                <a:solidFill>
                  <a:srgbClr val="222A33"/>
                </a:solidFill>
              </a:rPr>
              <a:t> — server-side templates</a:t>
            </a:r>
          </a:p>
        </p:txBody>
      </p:sp>
      <p:sp>
        <p:nvSpPr>
          <p:cNvPr id="19" name="TextBox 18"/>
          <p:cNvSpPr txBox="1"/>
          <p:nvPr/>
        </p:nvSpPr>
        <p:spPr>
          <a:xfrm>
            <a:off x="6400800" y="4434840"/>
            <a:ext cx="5486400" cy="1554480"/>
          </a:xfrm>
          <a:prstGeom prst="rect">
            <a:avLst/>
          </a:prstGeom>
          <a:noFill/>
        </p:spPr>
        <p:txBody>
          <a:bodyPr wrap="square" lIns="0" rIns="0" tIns="0" bIns="0">
            <a:spAutoFit/>
          </a:bodyPr>
          <a:lstStyle/>
          <a:p>
            <a:pPr algn="l">
              <a:spcAft>
                <a:spcPts val="600"/>
              </a:spcAft>
            </a:pPr>
            <a:r>
              <a:rPr sz="1800">
                <a:solidFill>
                  <a:srgbClr val="222A33"/>
                </a:solidFill>
              </a:rPr>
              <a:t>• An LLM should reach a database, an R script, an internal API</a:t>
            </a:r>
          </a:p>
          <a:p>
            <a:pPr algn="l">
              <a:spcAft>
                <a:spcPts val="600"/>
              </a:spcAft>
            </a:pPr>
            <a:r>
              <a:rPr sz="1800">
                <a:solidFill>
                  <a:srgbClr val="222A33"/>
                </a:solidFill>
              </a:rPr>
              <a:t>• One tool should be reusable across Claude Desktop, Cursor, your Jupyter</a:t>
            </a:r>
          </a:p>
          <a:p>
            <a:pPr algn="l">
              <a:spcAft>
                <a:spcPts val="600"/>
              </a:spcAft>
            </a:pPr>
            <a:r>
              <a:rPr sz="1800">
                <a:solidFill>
                  <a:srgbClr val="222A33"/>
                </a:solidFill>
              </a:rPr>
              <a:t>• You want type-safe schemas auto-generated from your code</a:t>
            </a:r>
          </a:p>
        </p:txBody>
      </p:sp>
      <p:sp>
        <p:nvSpPr>
          <p:cNvPr id="20" name="TextBox 19"/>
          <p:cNvSpPr txBox="1"/>
          <p:nvPr/>
        </p:nvSpPr>
        <p:spPr>
          <a:xfrm>
            <a:off x="548640" y="6217920"/>
            <a:ext cx="10972800" cy="502920"/>
          </a:xfrm>
          <a:prstGeom prst="rect">
            <a:avLst/>
          </a:prstGeom>
          <a:noFill/>
        </p:spPr>
        <p:txBody>
          <a:bodyPr wrap="square" lIns="0" rIns="0" tIns="0" bIns="0" anchor="t">
            <a:spAutoFit/>
          </a:bodyPr>
          <a:lstStyle/>
          <a:p>
            <a:pPr algn="ctr"/>
            <a:r>
              <a:rPr sz="2200" b="1">
                <a:solidFill>
                  <a:srgbClr val="1A4D8F"/>
                </a:solidFill>
              </a:rPr>
              <a:t>Mental model: MCP is the calculator's keypad.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lIns="0" rIns="0" tIns="0" bIns="0" anchor="t">
            <a:spAutoFit/>
          </a:bodyPr>
          <a:lstStyle/>
          <a:p>
            <a:pPr algn="l"/>
            <a:r>
              <a:rPr sz="3400" b="1">
                <a:solidFill>
                  <a:srgbClr val="1A4D8F"/>
                </a:solidFill>
              </a:rPr>
              <a:t>A2A — agent to agent</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2194560"/>
            <a:ext cx="1828800" cy="82296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222A33"/>
                </a:solidFill>
              </a:rPr>
              <a:t>you</a:t>
            </a:r>
          </a:p>
        </p:txBody>
      </p:sp>
      <p:sp>
        <p:nvSpPr>
          <p:cNvPr id="5" name="Rounded Rectangle 4"/>
          <p:cNvSpPr/>
          <p:nvPr/>
        </p:nvSpPr>
        <p:spPr>
          <a:xfrm>
            <a:off x="4023360" y="1371600"/>
            <a:ext cx="7498079" cy="2194560"/>
          </a:xfrm>
          <a:prstGeom prst="roundRect">
            <a:avLst/>
          </a:prstGeom>
          <a:solidFill>
            <a:srgbClr val="FFFFFF"/>
          </a:solidFill>
          <a:ln w="2222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06240" y="1444752"/>
            <a:ext cx="7132319" cy="320040"/>
          </a:xfrm>
          <a:prstGeom prst="rect">
            <a:avLst/>
          </a:prstGeom>
          <a:noFill/>
        </p:spPr>
        <p:txBody>
          <a:bodyPr wrap="square" lIns="0" rIns="0" tIns="0" bIns="0" anchor="t">
            <a:spAutoFit/>
          </a:bodyPr>
          <a:lstStyle/>
          <a:p>
            <a:pPr algn="l"/>
            <a:r>
              <a:rPr sz="1300" b="1">
                <a:solidFill>
                  <a:srgbClr val="1A4D8F"/>
                </a:solidFill>
              </a:rPr>
              <a:t>A2A Agent — own LLM + own tools</a:t>
            </a:r>
          </a:p>
        </p:txBody>
      </p:sp>
      <p:sp>
        <p:nvSpPr>
          <p:cNvPr id="7" name="Rounded Rectangle 6"/>
          <p:cNvSpPr/>
          <p:nvPr/>
        </p:nvSpPr>
        <p:spPr>
          <a:xfrm>
            <a:off x="4480560" y="2011680"/>
            <a:ext cx="2743200" cy="77724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222A33"/>
                </a:solidFill>
              </a:rPr>
              <a:t>internal LLM loop</a:t>
            </a:r>
          </a:p>
        </p:txBody>
      </p:sp>
      <p:sp>
        <p:nvSpPr>
          <p:cNvPr id="8" name="Rounded Rectangle 7"/>
          <p:cNvSpPr/>
          <p:nvPr/>
        </p:nvSpPr>
        <p:spPr>
          <a:xfrm>
            <a:off x="8321040" y="2011680"/>
            <a:ext cx="2743200" cy="77724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222A33"/>
                </a:solidFill>
              </a:rPr>
              <a:t>tools / data</a:t>
            </a:r>
          </a:p>
        </p:txBody>
      </p:sp>
      <p:cxnSp>
        <p:nvCxnSpPr>
          <p:cNvPr id="9" name="Connector 8"/>
          <p:cNvCxnSpPr/>
          <p:nvPr/>
        </p:nvCxnSpPr>
        <p:spPr>
          <a:xfrm>
            <a:off x="7223760" y="2331720"/>
            <a:ext cx="1097280" cy="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7223760" y="2514600"/>
            <a:ext cx="1097280" cy="0"/>
          </a:xfrm>
          <a:prstGeom prst="bentConnector3">
            <a:avLst/>
          </a:prstGeom>
          <a:ln w="19050">
            <a:solidFill>
              <a:srgbClr val="6670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480560" y="2971800"/>
            <a:ext cx="6583679" cy="365760"/>
          </a:xfrm>
          <a:prstGeom prst="rect">
            <a:avLst/>
          </a:prstGeom>
          <a:noFill/>
        </p:spPr>
        <p:txBody>
          <a:bodyPr wrap="square" lIns="0" rIns="0" tIns="0" bIns="0" anchor="t">
            <a:spAutoFit/>
          </a:bodyPr>
          <a:lstStyle/>
          <a:p>
            <a:pPr algn="ctr"/>
            <a:r>
              <a:rPr sz="1200" b="0">
                <a:solidFill>
                  <a:srgbClr val="66707A"/>
                </a:solidFill>
              </a:rPr>
              <a:t>(plan → call tools → decide → write answer — all invisible to caller)</a:t>
            </a:r>
          </a:p>
        </p:txBody>
      </p:sp>
      <p:cxnSp>
        <p:nvCxnSpPr>
          <p:cNvPr id="12" name="Connector 11"/>
          <p:cNvCxnSpPr/>
          <p:nvPr/>
        </p:nvCxnSpPr>
        <p:spPr>
          <a:xfrm>
            <a:off x="2377440" y="2423160"/>
            <a:ext cx="1645920" cy="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651760" y="2130552"/>
            <a:ext cx="1097280" cy="274320"/>
          </a:xfrm>
          <a:prstGeom prst="rect">
            <a:avLst/>
          </a:prstGeom>
          <a:noFill/>
        </p:spPr>
        <p:txBody>
          <a:bodyPr wrap="square" lIns="0" rIns="0" tIns="0" bIns="0" anchor="t">
            <a:spAutoFit/>
          </a:bodyPr>
          <a:lstStyle/>
          <a:p>
            <a:pPr algn="ctr"/>
            <a:r>
              <a:rPr sz="1600" b="0">
                <a:solidFill>
                  <a:srgbClr val="66707A"/>
                </a:solidFill>
              </a:rPr>
              <a:t>one sentence</a:t>
            </a:r>
          </a:p>
        </p:txBody>
      </p:sp>
      <p:cxnSp>
        <p:nvCxnSpPr>
          <p:cNvPr id="14" name="Connector 13"/>
          <p:cNvCxnSpPr/>
          <p:nvPr/>
        </p:nvCxnSpPr>
        <p:spPr>
          <a:xfrm flipH="1">
            <a:off x="2377440" y="2697480"/>
            <a:ext cx="1645920" cy="0"/>
          </a:xfrm>
          <a:prstGeom prst="bentConnector3">
            <a:avLst/>
          </a:prstGeom>
          <a:ln w="19050">
            <a:solidFill>
              <a:srgbClr val="6670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651760" y="2743200"/>
            <a:ext cx="1097280" cy="274320"/>
          </a:xfrm>
          <a:prstGeom prst="rect">
            <a:avLst/>
          </a:prstGeom>
          <a:noFill/>
        </p:spPr>
        <p:txBody>
          <a:bodyPr wrap="square" lIns="0" rIns="0" tIns="0" bIns="0" anchor="t">
            <a:spAutoFit/>
          </a:bodyPr>
          <a:lstStyle/>
          <a:p>
            <a:pPr algn="ctr"/>
            <a:r>
              <a:rPr sz="1600" b="0">
                <a:solidFill>
                  <a:srgbClr val="66707A"/>
                </a:solidFill>
              </a:rPr>
              <a:t>final answer</a:t>
            </a:r>
          </a:p>
        </p:txBody>
      </p:sp>
      <p:sp>
        <p:nvSpPr>
          <p:cNvPr id="16" name="TextBox 15"/>
          <p:cNvSpPr txBox="1"/>
          <p:nvPr/>
        </p:nvSpPr>
        <p:spPr>
          <a:xfrm>
            <a:off x="640080" y="3977639"/>
            <a:ext cx="4572000" cy="365760"/>
          </a:xfrm>
          <a:prstGeom prst="rect">
            <a:avLst/>
          </a:prstGeom>
          <a:noFill/>
        </p:spPr>
        <p:txBody>
          <a:bodyPr wrap="square" lIns="0" rIns="0" tIns="0" bIns="0" anchor="t">
            <a:spAutoFit/>
          </a:bodyPr>
          <a:lstStyle/>
          <a:p>
            <a:pPr algn="l"/>
            <a:r>
              <a:rPr sz="1800" b="1">
                <a:solidFill>
                  <a:srgbClr val="1A4D8F"/>
                </a:solidFill>
              </a:rPr>
              <a:t>Three core concepts</a:t>
            </a:r>
          </a:p>
        </p:txBody>
      </p:sp>
      <p:sp>
        <p:nvSpPr>
          <p:cNvPr id="17" name="TextBox 16"/>
          <p:cNvSpPr txBox="1"/>
          <p:nvPr/>
        </p:nvSpPr>
        <p:spPr>
          <a:xfrm>
            <a:off x="6400800" y="3977639"/>
            <a:ext cx="4572000" cy="365760"/>
          </a:xfrm>
          <a:prstGeom prst="rect">
            <a:avLst/>
          </a:prstGeom>
          <a:noFill/>
        </p:spPr>
        <p:txBody>
          <a:bodyPr wrap="square" lIns="0" rIns="0" tIns="0" bIns="0" anchor="t">
            <a:spAutoFit/>
          </a:bodyPr>
          <a:lstStyle/>
          <a:p>
            <a:pPr algn="l"/>
            <a:r>
              <a:rPr sz="1800" b="1">
                <a:solidFill>
                  <a:srgbClr val="1A4D8F"/>
                </a:solidFill>
              </a:rPr>
              <a:t>Use it when …</a:t>
            </a:r>
          </a:p>
        </p:txBody>
      </p:sp>
      <p:sp>
        <p:nvSpPr>
          <p:cNvPr id="18" name="TextBox 17"/>
          <p:cNvSpPr txBox="1"/>
          <p:nvPr/>
        </p:nvSpPr>
        <p:spPr>
          <a:xfrm>
            <a:off x="640080" y="4434840"/>
            <a:ext cx="5486400" cy="1554480"/>
          </a:xfrm>
          <a:prstGeom prst="rect">
            <a:avLst/>
          </a:prstGeom>
          <a:noFill/>
        </p:spPr>
        <p:txBody>
          <a:bodyPr wrap="square" lIns="0" rIns="0" tIns="0" bIns="0">
            <a:spAutoFit/>
          </a:bodyPr>
          <a:lstStyle/>
          <a:p>
            <a:pPr algn="l">
              <a:spcAft>
                <a:spcPts val="600"/>
              </a:spcAft>
            </a:pPr>
            <a:r>
              <a:rPr sz="1800" b="0">
                <a:solidFill>
                  <a:srgbClr val="222A33"/>
                </a:solidFill>
              </a:rPr>
              <a:t>• </a:t>
            </a:r>
            <a:r>
              <a:rPr sz="1800" b="1">
                <a:solidFill>
                  <a:srgbClr val="222A33"/>
                </a:solidFill>
              </a:rPr>
              <a:t>Agent Card</a:t>
            </a:r>
            <a:r>
              <a:rPr sz="1800" b="0">
                <a:solidFill>
                  <a:srgbClr val="222A33"/>
                </a:solidFill>
              </a:rPr>
              <a:t> — self-description at a well-known URL</a:t>
            </a:r>
          </a:p>
          <a:p>
            <a:pPr algn="l">
              <a:spcAft>
                <a:spcPts val="600"/>
              </a:spcAft>
            </a:pPr>
            <a:r>
              <a:rPr sz="1800" b="0">
                <a:solidFill>
                  <a:srgbClr val="222A33"/>
                </a:solidFill>
              </a:rPr>
              <a:t>• </a:t>
            </a:r>
            <a:r>
              <a:rPr sz="1800" b="1">
                <a:solidFill>
                  <a:srgbClr val="222A33"/>
                </a:solidFill>
              </a:rPr>
              <a:t>Task</a:t>
            </a:r>
            <a:r>
              <a:rPr sz="1800" b="0">
                <a:solidFill>
                  <a:srgbClr val="222A33"/>
                </a:solidFill>
              </a:rPr>
              <a:t> — work unit with a lifecycle (submitted → working → completed)</a:t>
            </a:r>
          </a:p>
          <a:p>
            <a:pPr algn="l">
              <a:spcAft>
                <a:spcPts val="600"/>
              </a:spcAft>
            </a:pPr>
            <a:r>
              <a:rPr sz="1800" b="0">
                <a:solidFill>
                  <a:srgbClr val="222A33"/>
                </a:solidFill>
              </a:rPr>
              <a:t>• </a:t>
            </a:r>
            <a:r>
              <a:rPr sz="1800" b="1">
                <a:solidFill>
                  <a:srgbClr val="222A33"/>
                </a:solidFill>
              </a:rPr>
              <a:t>Message / Artifact</a:t>
            </a:r>
            <a:r>
              <a:rPr sz="1800" b="0">
                <a:solidFill>
                  <a:srgbClr val="222A33"/>
                </a:solidFill>
              </a:rPr>
              <a:t> — input / output</a:t>
            </a:r>
          </a:p>
        </p:txBody>
      </p:sp>
      <p:sp>
        <p:nvSpPr>
          <p:cNvPr id="19" name="TextBox 18"/>
          <p:cNvSpPr txBox="1"/>
          <p:nvPr/>
        </p:nvSpPr>
        <p:spPr>
          <a:xfrm>
            <a:off x="6400800" y="4434840"/>
            <a:ext cx="5486400" cy="1554480"/>
          </a:xfrm>
          <a:prstGeom prst="rect">
            <a:avLst/>
          </a:prstGeom>
          <a:noFill/>
        </p:spPr>
        <p:txBody>
          <a:bodyPr wrap="square" lIns="0" rIns="0" tIns="0" bIns="0">
            <a:spAutoFit/>
          </a:bodyPr>
          <a:lstStyle/>
          <a:p>
            <a:pPr algn="l">
              <a:spcAft>
                <a:spcPts val="600"/>
              </a:spcAft>
            </a:pPr>
            <a:r>
              <a:rPr sz="1800">
                <a:solidFill>
                  <a:srgbClr val="222A33"/>
                </a:solidFill>
              </a:rPr>
              <a:t>• The callee should plan and reason on its own</a:t>
            </a:r>
          </a:p>
          <a:p>
            <a:pPr algn="l">
              <a:spcAft>
                <a:spcPts val="600"/>
              </a:spcAft>
            </a:pPr>
            <a:r>
              <a:rPr sz="1800">
                <a:solidFill>
                  <a:srgbClr val="222A33"/>
                </a:solidFill>
              </a:rPr>
              <a:t>• Work is async / long-running — you want a task ID, not a blocking call</a:t>
            </a:r>
          </a:p>
          <a:p>
            <a:pPr algn="l">
              <a:spcAft>
                <a:spcPts val="600"/>
              </a:spcAft>
            </a:pPr>
            <a:r>
              <a:rPr sz="1800">
                <a:solidFill>
                  <a:srgbClr val="222A33"/>
                </a:solidFill>
              </a:rPr>
              <a:t>• Different teams or organizations own caller and callee</a:t>
            </a:r>
          </a:p>
        </p:txBody>
      </p:sp>
      <p:sp>
        <p:nvSpPr>
          <p:cNvPr id="20" name="TextBox 19"/>
          <p:cNvSpPr txBox="1"/>
          <p:nvPr/>
        </p:nvSpPr>
        <p:spPr>
          <a:xfrm>
            <a:off x="548640" y="6217920"/>
            <a:ext cx="10972800" cy="502920"/>
          </a:xfrm>
          <a:prstGeom prst="rect">
            <a:avLst/>
          </a:prstGeom>
          <a:noFill/>
        </p:spPr>
        <p:txBody>
          <a:bodyPr wrap="square" lIns="0" rIns="0" tIns="0" bIns="0" anchor="t">
            <a:spAutoFit/>
          </a:bodyPr>
          <a:lstStyle/>
          <a:p>
            <a:pPr algn="ctr"/>
            <a:r>
              <a:rPr sz="2200" b="1">
                <a:solidFill>
                  <a:srgbClr val="1A4D8F"/>
                </a:solidFill>
              </a:rPr>
              <a:t>Mental model: A2A is a phone call to a colleague.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lIns="0" rIns="0" tIns="0" bIns="0" anchor="t">
            <a:spAutoFit/>
          </a:bodyPr>
          <a:lstStyle/>
          <a:p>
            <a:pPr algn="l"/>
            <a:r>
              <a:rPr sz="3400" b="1">
                <a:solidFill>
                  <a:srgbClr val="1A4D8F"/>
                </a:solidFill>
              </a:rPr>
              <a:t>FA — humans, agents, tools, services</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0" y="1280160"/>
            <a:ext cx="2194560" cy="59436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22A33"/>
                </a:solidFill>
              </a:rPr>
              <a:t>CloudHost (relay)</a:t>
            </a:r>
          </a:p>
        </p:txBody>
      </p:sp>
      <p:sp>
        <p:nvSpPr>
          <p:cNvPr id="5" name="Rounded Rectangle 4"/>
          <p:cNvSpPr/>
          <p:nvPr/>
        </p:nvSpPr>
        <p:spPr>
          <a:xfrm>
            <a:off x="1645920" y="2468880"/>
            <a:ext cx="3291840" cy="73152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22A33"/>
                </a:solidFill>
              </a:rPr>
              <a:t>HostA · alice, EquityAnalyst</a:t>
            </a:r>
          </a:p>
        </p:txBody>
      </p:sp>
      <p:sp>
        <p:nvSpPr>
          <p:cNvPr id="6" name="Rounded Rectangle 5"/>
          <p:cNvSpPr/>
          <p:nvPr/>
        </p:nvSpPr>
        <p:spPr>
          <a:xfrm>
            <a:off x="7132320" y="2468880"/>
            <a:ext cx="3291840" cy="73152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22A33"/>
                </a:solidFill>
              </a:rPr>
              <a:t>HostB · MacroAnalyst</a:t>
            </a:r>
          </a:p>
        </p:txBody>
      </p:sp>
      <p:cxnSp>
        <p:nvCxnSpPr>
          <p:cNvPr id="7" name="Connector 6"/>
          <p:cNvCxnSpPr/>
          <p:nvPr/>
        </p:nvCxnSpPr>
        <p:spPr>
          <a:xfrm flipH="1">
            <a:off x="3291840" y="1874519"/>
            <a:ext cx="2286000" cy="594361"/>
          </a:xfrm>
          <a:prstGeom prst="bentConnector3">
            <a:avLst/>
          </a:prstGeom>
          <a:ln w="19050">
            <a:solidFill>
              <a:srgbClr val="1A4D8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75120" y="1874519"/>
            <a:ext cx="2103120" cy="594361"/>
          </a:xfrm>
          <a:prstGeom prst="bentConnector3">
            <a:avLst/>
          </a:prstGeom>
          <a:ln w="19050">
            <a:solidFill>
              <a:srgbClr val="1A4D8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291840" y="2057400"/>
            <a:ext cx="1371600" cy="274320"/>
          </a:xfrm>
          <a:prstGeom prst="rect">
            <a:avLst/>
          </a:prstGeom>
          <a:noFill/>
        </p:spPr>
        <p:txBody>
          <a:bodyPr wrap="square" lIns="0" rIns="0" tIns="0" bIns="0" anchor="t">
            <a:spAutoFit/>
          </a:bodyPr>
          <a:lstStyle/>
          <a:p>
            <a:pPr algn="ctr"/>
            <a:r>
              <a:rPr sz="1200" b="0">
                <a:solidFill>
                  <a:srgbClr val="66707A"/>
                </a:solidFill>
              </a:rPr>
              <a:t>parent</a:t>
            </a:r>
          </a:p>
        </p:txBody>
      </p:sp>
      <p:sp>
        <p:nvSpPr>
          <p:cNvPr id="10" name="TextBox 9"/>
          <p:cNvSpPr txBox="1"/>
          <p:nvPr/>
        </p:nvSpPr>
        <p:spPr>
          <a:xfrm>
            <a:off x="7315200" y="2057400"/>
            <a:ext cx="1371600" cy="274320"/>
          </a:xfrm>
          <a:prstGeom prst="rect">
            <a:avLst/>
          </a:prstGeom>
          <a:noFill/>
        </p:spPr>
        <p:txBody>
          <a:bodyPr wrap="square" lIns="0" rIns="0" tIns="0" bIns="0" anchor="t">
            <a:spAutoFit/>
          </a:bodyPr>
          <a:lstStyle/>
          <a:p>
            <a:pPr algn="ctr"/>
            <a:r>
              <a:rPr sz="1200" b="0">
                <a:solidFill>
                  <a:srgbClr val="66707A"/>
                </a:solidFill>
              </a:rPr>
              <a:t>parent</a:t>
            </a:r>
          </a:p>
        </p:txBody>
      </p:sp>
      <p:cxnSp>
        <p:nvCxnSpPr>
          <p:cNvPr id="11" name="Connector 10"/>
          <p:cNvCxnSpPr/>
          <p:nvPr/>
        </p:nvCxnSpPr>
        <p:spPr>
          <a:xfrm>
            <a:off x="4937760" y="2834640"/>
            <a:ext cx="2194560" cy="0"/>
          </a:xfrm>
          <a:prstGeom prst="bentConnector3">
            <a:avLst/>
          </a:prstGeom>
          <a:ln w="2540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0" y="2514600"/>
            <a:ext cx="1097280" cy="274320"/>
          </a:xfrm>
          <a:prstGeom prst="rect">
            <a:avLst/>
          </a:prstGeom>
          <a:noFill/>
        </p:spPr>
        <p:txBody>
          <a:bodyPr wrap="square" lIns="0" rIns="0" tIns="0" bIns="0" anchor="t">
            <a:spAutoFit/>
          </a:bodyPr>
          <a:lstStyle/>
          <a:p>
            <a:pPr algn="ctr"/>
            <a:r>
              <a:rPr sz="1600" b="0">
                <a:solidFill>
                  <a:srgbClr val="66707A"/>
                </a:solidFill>
              </a:rPr>
              <a:t>addressed by Entity ID — routed by network</a:t>
            </a:r>
          </a:p>
        </p:txBody>
      </p:sp>
      <p:sp>
        <p:nvSpPr>
          <p:cNvPr id="13" name="TextBox 12"/>
          <p:cNvSpPr txBox="1"/>
          <p:nvPr/>
        </p:nvSpPr>
        <p:spPr>
          <a:xfrm>
            <a:off x="548640" y="3383280"/>
            <a:ext cx="11247120" cy="365760"/>
          </a:xfrm>
          <a:prstGeom prst="rect">
            <a:avLst/>
          </a:prstGeom>
          <a:noFill/>
        </p:spPr>
        <p:txBody>
          <a:bodyPr wrap="square" lIns="0" rIns="0" tIns="0" bIns="0" anchor="t">
            <a:spAutoFit/>
          </a:bodyPr>
          <a:lstStyle/>
          <a:p>
            <a:pPr algn="ctr"/>
            <a:r>
              <a:rPr sz="1400" b="1">
                <a:solidFill>
                  <a:srgbClr val="1A4D8F"/>
                </a:solidFill>
              </a:rPr>
              <a:t>Discovery in protocol: host.get_discoverable_entities()  →  Network routes by Entity ID</a:t>
            </a:r>
          </a:p>
        </p:txBody>
      </p:sp>
      <p:sp>
        <p:nvSpPr>
          <p:cNvPr id="14" name="TextBox 13"/>
          <p:cNvSpPr txBox="1"/>
          <p:nvPr/>
        </p:nvSpPr>
        <p:spPr>
          <a:xfrm>
            <a:off x="640080" y="3977639"/>
            <a:ext cx="4572000" cy="365760"/>
          </a:xfrm>
          <a:prstGeom prst="rect">
            <a:avLst/>
          </a:prstGeom>
          <a:noFill/>
        </p:spPr>
        <p:txBody>
          <a:bodyPr wrap="square" lIns="0" rIns="0" tIns="0" bIns="0" anchor="t">
            <a:spAutoFit/>
          </a:bodyPr>
          <a:lstStyle/>
          <a:p>
            <a:pPr algn="l"/>
            <a:r>
              <a:rPr sz="1800" b="1">
                <a:solidFill>
                  <a:srgbClr val="1A4D8F"/>
                </a:solidFill>
              </a:rPr>
              <a:t>What FA adds</a:t>
            </a:r>
          </a:p>
        </p:txBody>
      </p:sp>
      <p:sp>
        <p:nvSpPr>
          <p:cNvPr id="15" name="TextBox 14"/>
          <p:cNvSpPr txBox="1"/>
          <p:nvPr/>
        </p:nvSpPr>
        <p:spPr>
          <a:xfrm>
            <a:off x="6400800" y="3977639"/>
            <a:ext cx="4572000" cy="365760"/>
          </a:xfrm>
          <a:prstGeom prst="rect">
            <a:avLst/>
          </a:prstGeom>
          <a:noFill/>
        </p:spPr>
        <p:txBody>
          <a:bodyPr wrap="square" lIns="0" rIns="0" tIns="0" bIns="0" anchor="t">
            <a:spAutoFit/>
          </a:bodyPr>
          <a:lstStyle/>
          <a:p>
            <a:pPr algn="l"/>
            <a:r>
              <a:rPr sz="1800" b="1">
                <a:solidFill>
                  <a:srgbClr val="1A4D8F"/>
                </a:solidFill>
              </a:rPr>
              <a:t>Use it when …</a:t>
            </a:r>
          </a:p>
        </p:txBody>
      </p:sp>
      <p:sp>
        <p:nvSpPr>
          <p:cNvPr id="16" name="TextBox 15"/>
          <p:cNvSpPr txBox="1"/>
          <p:nvPr/>
        </p:nvSpPr>
        <p:spPr>
          <a:xfrm>
            <a:off x="640080" y="4434840"/>
            <a:ext cx="5486400" cy="1554480"/>
          </a:xfrm>
          <a:prstGeom prst="rect">
            <a:avLst/>
          </a:prstGeom>
          <a:noFill/>
        </p:spPr>
        <p:txBody>
          <a:bodyPr wrap="square" lIns="0" rIns="0" tIns="0" bIns="0">
            <a:spAutoFit/>
          </a:bodyPr>
          <a:lstStyle/>
          <a:p>
            <a:pPr algn="l">
              <a:spcAft>
                <a:spcPts val="600"/>
              </a:spcAft>
            </a:pPr>
            <a:r>
              <a:rPr sz="1800" b="0">
                <a:solidFill>
                  <a:srgbClr val="222A33"/>
                </a:solidFill>
              </a:rPr>
              <a:t>• </a:t>
            </a:r>
            <a:r>
              <a:rPr sz="1800" b="1">
                <a:solidFill>
                  <a:srgbClr val="222A33"/>
                </a:solidFill>
              </a:rPr>
              <a:t>Entity</a:t>
            </a:r>
            <a:r>
              <a:rPr sz="1800" b="0">
                <a:solidFill>
                  <a:srgbClr val="222A33"/>
                </a:solidFill>
              </a:rPr>
              <a:t> — HUMAN / AGENT / TOOL / ORG / ARBITER</a:t>
            </a:r>
          </a:p>
          <a:p>
            <a:pPr algn="l">
              <a:spcAft>
                <a:spcPts val="600"/>
              </a:spcAft>
            </a:pPr>
            <a:r>
              <a:rPr sz="1800" b="0">
                <a:solidFill>
                  <a:srgbClr val="222A33"/>
                </a:solidFill>
              </a:rPr>
              <a:t>• </a:t>
            </a:r>
            <a:r>
              <a:rPr sz="1800" b="1">
                <a:solidFill>
                  <a:srgbClr val="222A33"/>
                </a:solidFill>
              </a:rPr>
              <a:t>Host</a:t>
            </a:r>
            <a:r>
              <a:rPr sz="1800" b="0">
                <a:solidFill>
                  <a:srgbClr val="222A33"/>
                </a:solidFill>
              </a:rPr>
              <a:t> — can be a pure routing node</a:t>
            </a:r>
          </a:p>
          <a:p>
            <a:pPr algn="l">
              <a:spcAft>
                <a:spcPts val="600"/>
              </a:spcAft>
            </a:pPr>
            <a:r>
              <a:rPr sz="1800" b="0">
                <a:solidFill>
                  <a:srgbClr val="222A33"/>
                </a:solidFill>
              </a:rPr>
              <a:t>• </a:t>
            </a:r>
            <a:r>
              <a:rPr sz="1800" b="1">
                <a:solidFill>
                  <a:srgbClr val="222A33"/>
                </a:solidFill>
              </a:rPr>
              <a:t>Friend</a:t>
            </a:r>
            <a:r>
              <a:rPr sz="1800" b="0">
                <a:solidFill>
                  <a:srgbClr val="222A33"/>
                </a:solidFill>
              </a:rPr>
              <a:t> — persistent relationship; Federation by Entity ID</a:t>
            </a:r>
          </a:p>
          <a:p>
            <a:pPr algn="l">
              <a:spcAft>
                <a:spcPts val="600"/>
              </a:spcAft>
            </a:pPr>
            <a:r>
              <a:rPr sz="1800" b="0">
                <a:solidFill>
                  <a:srgbClr val="222A33"/>
                </a:solidFill>
              </a:rPr>
              <a:t>• </a:t>
            </a:r>
            <a:r>
              <a:rPr sz="1800" b="1">
                <a:solidFill>
                  <a:srgbClr val="222A33"/>
                </a:solidFill>
              </a:rPr>
              <a:t>Trade</a:t>
            </a:r>
            <a:r>
              <a:rPr sz="1800" b="0">
                <a:solidFill>
                  <a:srgbClr val="222A33"/>
                </a:solidFill>
              </a:rPr>
              <a:t> — contracts / payments / ratings built in</a:t>
            </a:r>
          </a:p>
        </p:txBody>
      </p:sp>
      <p:sp>
        <p:nvSpPr>
          <p:cNvPr id="17" name="TextBox 16"/>
          <p:cNvSpPr txBox="1"/>
          <p:nvPr/>
        </p:nvSpPr>
        <p:spPr>
          <a:xfrm>
            <a:off x="6400800" y="4434840"/>
            <a:ext cx="5486400" cy="1554480"/>
          </a:xfrm>
          <a:prstGeom prst="rect">
            <a:avLst/>
          </a:prstGeom>
          <a:noFill/>
        </p:spPr>
        <p:txBody>
          <a:bodyPr wrap="square" lIns="0" rIns="0" tIns="0" bIns="0">
            <a:spAutoFit/>
          </a:bodyPr>
          <a:lstStyle/>
          <a:p>
            <a:pPr algn="l">
              <a:spcAft>
                <a:spcPts val="600"/>
              </a:spcAft>
            </a:pPr>
            <a:r>
              <a:rPr sz="1800">
                <a:solidFill>
                  <a:srgbClr val="222A33"/>
                </a:solidFill>
              </a:rPr>
              <a:t>• Agents need to find each other across deployments / orgs</a:t>
            </a:r>
          </a:p>
          <a:p>
            <a:pPr algn="l">
              <a:spcAft>
                <a:spcPts val="600"/>
              </a:spcAft>
            </a:pPr>
            <a:r>
              <a:rPr sz="1800">
                <a:solidFill>
                  <a:srgbClr val="222A33"/>
                </a:solidFill>
              </a:rPr>
              <a:t>• You need offline delivery, audit, end-to-end privacy across relays</a:t>
            </a:r>
          </a:p>
          <a:p>
            <a:pPr algn="l">
              <a:spcAft>
                <a:spcPts val="600"/>
              </a:spcAft>
            </a:pPr>
            <a:r>
              <a:rPr sz="1800">
                <a:solidFill>
                  <a:srgbClr val="222A33"/>
                </a:solidFill>
              </a:rPr>
              <a:t>• Identity must survive when the underlying machine changes</a:t>
            </a:r>
          </a:p>
        </p:txBody>
      </p:sp>
      <p:sp>
        <p:nvSpPr>
          <p:cNvPr id="18" name="TextBox 17"/>
          <p:cNvSpPr txBox="1"/>
          <p:nvPr/>
        </p:nvSpPr>
        <p:spPr>
          <a:xfrm>
            <a:off x="548640" y="6217920"/>
            <a:ext cx="10972800" cy="502920"/>
          </a:xfrm>
          <a:prstGeom prst="rect">
            <a:avLst/>
          </a:prstGeom>
          <a:noFill/>
        </p:spPr>
        <p:txBody>
          <a:bodyPr wrap="square" lIns="0" rIns="0" tIns="0" bIns="0" anchor="t">
            <a:spAutoFit/>
          </a:bodyPr>
          <a:lstStyle/>
          <a:p>
            <a:pPr algn="ctr"/>
            <a:r>
              <a:rPr sz="2200" b="1">
                <a:solidFill>
                  <a:srgbClr val="1A4D8F"/>
                </a:solidFill>
              </a:rPr>
              <a:t>Mental model: FA is the email / postal system for agents.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lIns="0" rIns="0" tIns="0" bIns="0" anchor="t">
            <a:spAutoFit/>
          </a:bodyPr>
          <a:lstStyle/>
          <a:p>
            <a:pPr algn="l"/>
            <a:r>
              <a:rPr sz="3400" b="1">
                <a:solidFill>
                  <a:srgbClr val="1A4D8F"/>
                </a:solidFill>
              </a:rPr>
              <a:t>Side by side — three architectures</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1280160"/>
            <a:ext cx="3703320" cy="640080"/>
          </a:xfrm>
          <a:prstGeom prst="rect">
            <a:avLst/>
          </a:prstGeom>
          <a:solidFill>
            <a:srgbClr val="1A4D8F"/>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325880"/>
            <a:ext cx="3703320" cy="365760"/>
          </a:xfrm>
          <a:prstGeom prst="rect">
            <a:avLst/>
          </a:prstGeom>
          <a:noFill/>
        </p:spPr>
        <p:txBody>
          <a:bodyPr wrap="square" lIns="0" rIns="0" tIns="0" bIns="0" anchor="t">
            <a:spAutoFit/>
          </a:bodyPr>
          <a:lstStyle/>
          <a:p>
            <a:pPr algn="ctr"/>
            <a:r>
              <a:rPr sz="2200" b="1">
                <a:solidFill>
                  <a:srgbClr val="FFFFFF"/>
                </a:solidFill>
              </a:rPr>
              <a:t>MCP</a:t>
            </a:r>
          </a:p>
        </p:txBody>
      </p:sp>
      <p:sp>
        <p:nvSpPr>
          <p:cNvPr id="6" name="TextBox 5"/>
          <p:cNvSpPr txBox="1"/>
          <p:nvPr/>
        </p:nvSpPr>
        <p:spPr>
          <a:xfrm>
            <a:off x="502920" y="1664208"/>
            <a:ext cx="3703320" cy="274320"/>
          </a:xfrm>
          <a:prstGeom prst="rect">
            <a:avLst/>
          </a:prstGeom>
          <a:noFill/>
        </p:spPr>
        <p:txBody>
          <a:bodyPr wrap="square" lIns="0" rIns="0" tIns="0" bIns="0" anchor="t">
            <a:spAutoFit/>
          </a:bodyPr>
          <a:lstStyle/>
          <a:p>
            <a:pPr algn="ctr"/>
            <a:r>
              <a:rPr sz="1200" b="0">
                <a:solidFill>
                  <a:srgbClr val="FFFFFF"/>
                </a:solidFill>
              </a:rPr>
              <a:t>LLM ↔ tools</a:t>
            </a:r>
          </a:p>
        </p:txBody>
      </p:sp>
      <p:sp>
        <p:nvSpPr>
          <p:cNvPr id="7" name="Rounded Rectangle 6"/>
          <p:cNvSpPr/>
          <p:nvPr/>
        </p:nvSpPr>
        <p:spPr>
          <a:xfrm>
            <a:off x="794156" y="2286000"/>
            <a:ext cx="1417320" cy="54864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22A33"/>
                </a:solidFill>
              </a:rPr>
              <a:t>Server 1</a:t>
            </a:r>
          </a:p>
        </p:txBody>
      </p:sp>
      <p:sp>
        <p:nvSpPr>
          <p:cNvPr id="8" name="Rounded Rectangle 7"/>
          <p:cNvSpPr/>
          <p:nvPr/>
        </p:nvSpPr>
        <p:spPr>
          <a:xfrm>
            <a:off x="2497683" y="2286000"/>
            <a:ext cx="1417320" cy="54864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22A33"/>
                </a:solidFill>
              </a:rPr>
              <a:t>Server 2</a:t>
            </a:r>
          </a:p>
        </p:txBody>
      </p:sp>
      <p:sp>
        <p:nvSpPr>
          <p:cNvPr id="9" name="Rounded Rectangle 8"/>
          <p:cNvSpPr/>
          <p:nvPr/>
        </p:nvSpPr>
        <p:spPr>
          <a:xfrm>
            <a:off x="1485900" y="3611880"/>
            <a:ext cx="1737360" cy="54864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22A33"/>
                </a:solidFill>
              </a:rPr>
              <a:t>LLM</a:t>
            </a:r>
          </a:p>
        </p:txBody>
      </p:sp>
      <p:cxnSp>
        <p:nvCxnSpPr>
          <p:cNvPr id="10" name="Connector 9"/>
          <p:cNvCxnSpPr/>
          <p:nvPr/>
        </p:nvCxnSpPr>
        <p:spPr>
          <a:xfrm flipV="1">
            <a:off x="1420520.4" y="2834640"/>
            <a:ext cx="0.0" cy="77724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85112.4" y="2834640"/>
            <a:ext cx="0.0" cy="777240"/>
          </a:xfrm>
          <a:prstGeom prst="bentConnector3">
            <a:avLst/>
          </a:prstGeom>
          <a:ln w="19050">
            <a:solidFill>
              <a:srgbClr val="6670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124047.6" y="2834640"/>
            <a:ext cx="0.0" cy="77724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288639.6" y="2834640"/>
            <a:ext cx="0.0" cy="777240"/>
          </a:xfrm>
          <a:prstGeom prst="bentConnector3">
            <a:avLst/>
          </a:prstGeom>
          <a:ln w="19050">
            <a:solidFill>
              <a:srgbClr val="6670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0080" y="4800600"/>
            <a:ext cx="3429000" cy="1371600"/>
          </a:xfrm>
          <a:prstGeom prst="rect">
            <a:avLst/>
          </a:prstGeom>
          <a:noFill/>
        </p:spPr>
        <p:txBody>
          <a:bodyPr wrap="square" lIns="0" rIns="0" tIns="0" bIns="0" anchor="t">
            <a:spAutoFit/>
          </a:bodyPr>
          <a:lstStyle/>
          <a:p>
            <a:pPr algn="ctr"/>
            <a:r>
              <a:rPr sz="1400" b="0">
                <a:solidFill>
                  <a:srgbClr val="222A33"/>
                </a:solidFill>
              </a:rPr>
              <a:t>LLM is the only orchestrator.
Servers are passive — they only respond.
All data flows through the LLM.</a:t>
            </a:r>
          </a:p>
        </p:txBody>
      </p:sp>
      <p:sp>
        <p:nvSpPr>
          <p:cNvPr id="15" name="Rectangle 14"/>
          <p:cNvSpPr/>
          <p:nvPr/>
        </p:nvSpPr>
        <p:spPr>
          <a:xfrm>
            <a:off x="4343400" y="1280160"/>
            <a:ext cx="3703320" cy="640080"/>
          </a:xfrm>
          <a:prstGeom prst="rect">
            <a:avLst/>
          </a:prstGeom>
          <a:solidFill>
            <a:srgbClr val="1A4D8F"/>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1325880"/>
            <a:ext cx="3703320" cy="365760"/>
          </a:xfrm>
          <a:prstGeom prst="rect">
            <a:avLst/>
          </a:prstGeom>
          <a:noFill/>
        </p:spPr>
        <p:txBody>
          <a:bodyPr wrap="square" lIns="0" rIns="0" tIns="0" bIns="0" anchor="t">
            <a:spAutoFit/>
          </a:bodyPr>
          <a:lstStyle/>
          <a:p>
            <a:pPr algn="ctr"/>
            <a:r>
              <a:rPr sz="2200" b="1">
                <a:solidFill>
                  <a:srgbClr val="FFFFFF"/>
                </a:solidFill>
              </a:rPr>
              <a:t>A2A</a:t>
            </a:r>
          </a:p>
        </p:txBody>
      </p:sp>
      <p:sp>
        <p:nvSpPr>
          <p:cNvPr id="17" name="TextBox 16"/>
          <p:cNvSpPr txBox="1"/>
          <p:nvPr/>
        </p:nvSpPr>
        <p:spPr>
          <a:xfrm>
            <a:off x="4343400" y="1664208"/>
            <a:ext cx="3703320" cy="274320"/>
          </a:xfrm>
          <a:prstGeom prst="rect">
            <a:avLst/>
          </a:prstGeom>
          <a:noFill/>
        </p:spPr>
        <p:txBody>
          <a:bodyPr wrap="square" lIns="0" rIns="0" tIns="0" bIns="0" anchor="t">
            <a:spAutoFit/>
          </a:bodyPr>
          <a:lstStyle/>
          <a:p>
            <a:pPr algn="ctr"/>
            <a:r>
              <a:rPr sz="1200" b="0">
                <a:solidFill>
                  <a:srgbClr val="FFFFFF"/>
                </a:solidFill>
              </a:rPr>
              <a:t>Agent ↔ Agent</a:t>
            </a:r>
          </a:p>
        </p:txBody>
      </p:sp>
      <p:sp>
        <p:nvSpPr>
          <p:cNvPr id="18" name="Rounded Rectangle 17"/>
          <p:cNvSpPr/>
          <p:nvPr/>
        </p:nvSpPr>
        <p:spPr>
          <a:xfrm>
            <a:off x="4480560" y="2971800"/>
            <a:ext cx="868680" cy="54864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22A33"/>
                </a:solidFill>
              </a:rPr>
              <a:t>you</a:t>
            </a:r>
          </a:p>
        </p:txBody>
      </p:sp>
      <p:sp>
        <p:nvSpPr>
          <p:cNvPr id="19" name="Rounded Rectangle 18"/>
          <p:cNvSpPr/>
          <p:nvPr/>
        </p:nvSpPr>
        <p:spPr>
          <a:xfrm>
            <a:off x="5760720" y="2240280"/>
            <a:ext cx="2148840" cy="2011680"/>
          </a:xfrm>
          <a:prstGeom prst="roundRect">
            <a:avLst/>
          </a:prstGeom>
          <a:solidFill>
            <a:srgbClr val="FFFFFF"/>
          </a:solidFill>
          <a:ln w="19050">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0720" y="2286000"/>
            <a:ext cx="2148840" cy="274320"/>
          </a:xfrm>
          <a:prstGeom prst="rect">
            <a:avLst/>
          </a:prstGeom>
          <a:noFill/>
        </p:spPr>
        <p:txBody>
          <a:bodyPr wrap="square" lIns="0" rIns="0" tIns="0" bIns="0" anchor="t">
            <a:spAutoFit/>
          </a:bodyPr>
          <a:lstStyle/>
          <a:p>
            <a:pPr algn="ctr"/>
            <a:r>
              <a:rPr sz="1200" b="1">
                <a:solidFill>
                  <a:srgbClr val="1A4D8F"/>
                </a:solidFill>
              </a:rPr>
              <a:t>A2A Agent</a:t>
            </a:r>
          </a:p>
        </p:txBody>
      </p:sp>
      <p:sp>
        <p:nvSpPr>
          <p:cNvPr id="21" name="Rounded Rectangle 20"/>
          <p:cNvSpPr/>
          <p:nvPr/>
        </p:nvSpPr>
        <p:spPr>
          <a:xfrm>
            <a:off x="5897880" y="2743200"/>
            <a:ext cx="868680" cy="50292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222A33"/>
                </a:solidFill>
              </a:rPr>
              <a:t>LLM</a:t>
            </a:r>
          </a:p>
        </p:txBody>
      </p:sp>
      <p:sp>
        <p:nvSpPr>
          <p:cNvPr id="22" name="Rounded Rectangle 21"/>
          <p:cNvSpPr/>
          <p:nvPr/>
        </p:nvSpPr>
        <p:spPr>
          <a:xfrm>
            <a:off x="6903720" y="2743200"/>
            <a:ext cx="868680" cy="50292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222A33"/>
                </a:solidFill>
              </a:rPr>
              <a:t>tools</a:t>
            </a:r>
          </a:p>
        </p:txBody>
      </p:sp>
      <p:sp>
        <p:nvSpPr>
          <p:cNvPr id="23" name="TextBox 22"/>
          <p:cNvSpPr txBox="1"/>
          <p:nvPr/>
        </p:nvSpPr>
        <p:spPr>
          <a:xfrm>
            <a:off x="5760720" y="3840480"/>
            <a:ext cx="2148840" cy="274320"/>
          </a:xfrm>
          <a:prstGeom prst="rect">
            <a:avLst/>
          </a:prstGeom>
          <a:noFill/>
        </p:spPr>
        <p:txBody>
          <a:bodyPr wrap="square" lIns="0" rIns="0" tIns="0" bIns="0" anchor="t">
            <a:spAutoFit/>
          </a:bodyPr>
          <a:lstStyle/>
          <a:p>
            <a:pPr algn="ctr"/>
            <a:r>
              <a:rPr sz="1000" b="0">
                <a:solidFill>
                  <a:srgbClr val="66707A"/>
                </a:solidFill>
              </a:rPr>
              <a:t>(internal loop, hidden from caller)</a:t>
            </a:r>
          </a:p>
        </p:txBody>
      </p:sp>
      <p:cxnSp>
        <p:nvCxnSpPr>
          <p:cNvPr id="24" name="Connector 23"/>
          <p:cNvCxnSpPr/>
          <p:nvPr/>
        </p:nvCxnSpPr>
        <p:spPr>
          <a:xfrm>
            <a:off x="5349240" y="3154680.0"/>
            <a:ext cx="411480" cy="0.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5349240" y="3337560.0"/>
            <a:ext cx="411480" cy="0.0"/>
          </a:xfrm>
          <a:prstGeom prst="bentConnector3">
            <a:avLst/>
          </a:prstGeom>
          <a:ln w="19050">
            <a:solidFill>
              <a:srgbClr val="6670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480560" y="4800600"/>
            <a:ext cx="3429000" cy="1371600"/>
          </a:xfrm>
          <a:prstGeom prst="rect">
            <a:avLst/>
          </a:prstGeom>
          <a:noFill/>
        </p:spPr>
        <p:txBody>
          <a:bodyPr wrap="square" lIns="0" rIns="0" tIns="0" bIns="0" anchor="t">
            <a:spAutoFit/>
          </a:bodyPr>
          <a:lstStyle/>
          <a:p>
            <a:pPr algn="ctr"/>
            <a:r>
              <a:rPr sz="1400" b="0">
                <a:solidFill>
                  <a:srgbClr val="222A33"/>
                </a:solidFill>
              </a:rPr>
              <a:t>The callee is itself a smart agent (own LLM + tools).
Caller delegates one task; internal work is hidden.
URLs still pre-known — no in-protocol discovery.</a:t>
            </a:r>
          </a:p>
        </p:txBody>
      </p:sp>
      <p:sp>
        <p:nvSpPr>
          <p:cNvPr id="27" name="Rectangle 26"/>
          <p:cNvSpPr/>
          <p:nvPr/>
        </p:nvSpPr>
        <p:spPr>
          <a:xfrm>
            <a:off x="8183880" y="1280160"/>
            <a:ext cx="3703320" cy="640080"/>
          </a:xfrm>
          <a:prstGeom prst="rect">
            <a:avLst/>
          </a:prstGeom>
          <a:solidFill>
            <a:srgbClr val="1A4D8F"/>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83880" y="1325880"/>
            <a:ext cx="3703320" cy="365760"/>
          </a:xfrm>
          <a:prstGeom prst="rect">
            <a:avLst/>
          </a:prstGeom>
          <a:noFill/>
        </p:spPr>
        <p:txBody>
          <a:bodyPr wrap="square" lIns="0" rIns="0" tIns="0" bIns="0" anchor="t">
            <a:spAutoFit/>
          </a:bodyPr>
          <a:lstStyle/>
          <a:p>
            <a:pPr algn="ctr"/>
            <a:r>
              <a:rPr sz="2200" b="1">
                <a:solidFill>
                  <a:srgbClr val="FFFFFF"/>
                </a:solidFill>
              </a:rPr>
              <a:t>FA</a:t>
            </a:r>
          </a:p>
        </p:txBody>
      </p:sp>
      <p:sp>
        <p:nvSpPr>
          <p:cNvPr id="29" name="TextBox 28"/>
          <p:cNvSpPr txBox="1"/>
          <p:nvPr/>
        </p:nvSpPr>
        <p:spPr>
          <a:xfrm>
            <a:off x="8183880" y="1664208"/>
            <a:ext cx="3703320" cy="274320"/>
          </a:xfrm>
          <a:prstGeom prst="rect">
            <a:avLst/>
          </a:prstGeom>
          <a:noFill/>
        </p:spPr>
        <p:txBody>
          <a:bodyPr wrap="square" lIns="0" rIns="0" tIns="0" bIns="0" anchor="t">
            <a:spAutoFit/>
          </a:bodyPr>
          <a:lstStyle/>
          <a:p>
            <a:pPr algn="ctr"/>
            <a:r>
              <a:rPr sz="1200" b="0">
                <a:solidFill>
                  <a:srgbClr val="FFFFFF"/>
                </a:solidFill>
              </a:rPr>
              <a:t>Network of entities</a:t>
            </a:r>
          </a:p>
        </p:txBody>
      </p:sp>
      <p:sp>
        <p:nvSpPr>
          <p:cNvPr id="30" name="Rounded Rectangle 29"/>
          <p:cNvSpPr/>
          <p:nvPr/>
        </p:nvSpPr>
        <p:spPr>
          <a:xfrm>
            <a:off x="9349740" y="2103120"/>
            <a:ext cx="1371600" cy="45720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222A33"/>
                </a:solidFill>
              </a:rPr>
              <a:t>relay</a:t>
            </a:r>
          </a:p>
        </p:txBody>
      </p:sp>
      <p:sp>
        <p:nvSpPr>
          <p:cNvPr id="31" name="Rounded Rectangle 30"/>
          <p:cNvSpPr/>
          <p:nvPr/>
        </p:nvSpPr>
        <p:spPr>
          <a:xfrm>
            <a:off x="8406536" y="2926080"/>
            <a:ext cx="1554480" cy="1371600"/>
          </a:xfrm>
          <a:prstGeom prst="roundRect">
            <a:avLst/>
          </a:prstGeom>
          <a:solidFill>
            <a:srgbClr val="FFFFFF"/>
          </a:solidFill>
          <a:ln w="19050">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110063" y="2926080"/>
            <a:ext cx="1554480" cy="1371600"/>
          </a:xfrm>
          <a:prstGeom prst="roundRect">
            <a:avLst/>
          </a:prstGeom>
          <a:solidFill>
            <a:srgbClr val="FFFFFF"/>
          </a:solidFill>
          <a:ln w="19050">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06536" y="2971800"/>
            <a:ext cx="1554480" cy="274320"/>
          </a:xfrm>
          <a:prstGeom prst="rect">
            <a:avLst/>
          </a:prstGeom>
          <a:noFill/>
        </p:spPr>
        <p:txBody>
          <a:bodyPr wrap="square" lIns="0" rIns="0" tIns="0" bIns="0" anchor="t">
            <a:spAutoFit/>
          </a:bodyPr>
          <a:lstStyle/>
          <a:p>
            <a:pPr algn="ctr"/>
            <a:r>
              <a:rPr sz="1100" b="1">
                <a:solidFill>
                  <a:srgbClr val="1A4D8F"/>
                </a:solidFill>
              </a:rPr>
              <a:t>Host A</a:t>
            </a:r>
          </a:p>
        </p:txBody>
      </p:sp>
      <p:sp>
        <p:nvSpPr>
          <p:cNvPr id="34" name="TextBox 33"/>
          <p:cNvSpPr txBox="1"/>
          <p:nvPr/>
        </p:nvSpPr>
        <p:spPr>
          <a:xfrm>
            <a:off x="10110063" y="2971800"/>
            <a:ext cx="1554480" cy="274320"/>
          </a:xfrm>
          <a:prstGeom prst="rect">
            <a:avLst/>
          </a:prstGeom>
          <a:noFill/>
        </p:spPr>
        <p:txBody>
          <a:bodyPr wrap="square" lIns="0" rIns="0" tIns="0" bIns="0" anchor="t">
            <a:spAutoFit/>
          </a:bodyPr>
          <a:lstStyle/>
          <a:p>
            <a:pPr algn="ctr"/>
            <a:r>
              <a:rPr sz="1100" b="1">
                <a:solidFill>
                  <a:srgbClr val="1A4D8F"/>
                </a:solidFill>
              </a:rPr>
              <a:t>Host B</a:t>
            </a:r>
          </a:p>
        </p:txBody>
      </p:sp>
      <p:sp>
        <p:nvSpPr>
          <p:cNvPr id="35" name="Rounded Rectangle 34"/>
          <p:cNvSpPr/>
          <p:nvPr/>
        </p:nvSpPr>
        <p:spPr>
          <a:xfrm>
            <a:off x="8543696" y="3566160"/>
            <a:ext cx="1280160" cy="45720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222A33"/>
                </a:solidFill>
              </a:rPr>
              <a:t>alice</a:t>
            </a:r>
          </a:p>
        </p:txBody>
      </p:sp>
      <p:sp>
        <p:nvSpPr>
          <p:cNvPr id="36" name="Rounded Rectangle 35"/>
          <p:cNvSpPr/>
          <p:nvPr/>
        </p:nvSpPr>
        <p:spPr>
          <a:xfrm>
            <a:off x="10247223" y="3566160"/>
            <a:ext cx="1280160" cy="45720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222A33"/>
                </a:solidFill>
              </a:rPr>
              <a:t>Entity B</a:t>
            </a:r>
          </a:p>
        </p:txBody>
      </p:sp>
      <p:cxnSp>
        <p:nvCxnSpPr>
          <p:cNvPr id="37" name="Connector 36"/>
          <p:cNvCxnSpPr/>
          <p:nvPr/>
        </p:nvCxnSpPr>
        <p:spPr>
          <a:xfrm flipH="1">
            <a:off x="9183776.4" y="2560320"/>
            <a:ext cx="577443.5999999996" cy="365760"/>
          </a:xfrm>
          <a:prstGeom prst="bentConnector3">
            <a:avLst/>
          </a:prstGeom>
          <a:ln w="19050">
            <a:solidFill>
              <a:srgbClr val="66707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309860.0" y="2560320"/>
            <a:ext cx="577443.5999999996" cy="365760"/>
          </a:xfrm>
          <a:prstGeom prst="bentConnector3">
            <a:avLst/>
          </a:prstGeom>
          <a:ln w="19050">
            <a:solidFill>
              <a:srgbClr val="66707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823856.4" y="3794760.0"/>
            <a:ext cx="423367.19999999925" cy="0.0"/>
          </a:xfrm>
          <a:prstGeom prst="bentConnector3">
            <a:avLst/>
          </a:prstGeom>
          <a:ln w="22225">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275320" y="4389120"/>
            <a:ext cx="3520440" cy="274320"/>
          </a:xfrm>
          <a:prstGeom prst="rect">
            <a:avLst/>
          </a:prstGeom>
          <a:noFill/>
        </p:spPr>
        <p:txBody>
          <a:bodyPr wrap="square" lIns="0" rIns="0" tIns="0" bIns="0" anchor="t">
            <a:spAutoFit/>
          </a:bodyPr>
          <a:lstStyle/>
          <a:p>
            <a:pPr algn="ctr"/>
            <a:r>
              <a:rPr sz="1000" b="1">
                <a:solidFill>
                  <a:srgbClr val="1A4D8F"/>
                </a:solidFill>
              </a:rPr>
              <a:t>discovery + routed by Entity ID</a:t>
            </a:r>
          </a:p>
        </p:txBody>
      </p:sp>
      <p:sp>
        <p:nvSpPr>
          <p:cNvPr id="41" name="TextBox 40"/>
          <p:cNvSpPr txBox="1"/>
          <p:nvPr/>
        </p:nvSpPr>
        <p:spPr>
          <a:xfrm>
            <a:off x="8321040" y="4800600"/>
            <a:ext cx="3429000" cy="1371600"/>
          </a:xfrm>
          <a:prstGeom prst="rect">
            <a:avLst/>
          </a:prstGeom>
          <a:noFill/>
        </p:spPr>
        <p:txBody>
          <a:bodyPr wrap="square" lIns="0" rIns="0" tIns="0" bIns="0" anchor="t">
            <a:spAutoFit/>
          </a:bodyPr>
          <a:lstStyle/>
          <a:p>
            <a:pPr algn="ctr"/>
            <a:r>
              <a:rPr sz="1400" b="0">
                <a:solidFill>
                  <a:srgbClr val="222A33"/>
                </a:solidFill>
              </a:rPr>
              <a:t>Address by Entity ID, not URL.
Discovery + routing built into the protocol.
Hosts can act as relays.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lIns="0" rIns="0" tIns="0" bIns="0" anchor="t">
            <a:spAutoFit/>
          </a:bodyPr>
          <a:lstStyle/>
          <a:p>
            <a:pPr algn="l"/>
            <a:r>
              <a:rPr sz="3400" b="1">
                <a:solidFill>
                  <a:srgbClr val="1A4D8F"/>
                </a:solidFill>
              </a:rPr>
              <a:t>Why federate, instead of pure P2P?</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lIns="0" rIns="0" tIns="0" bIns="0" anchor="t">
            <a:spAutoFit/>
          </a:bodyPr>
          <a:lstStyle/>
          <a:p>
            <a:pPr algn="l"/>
            <a:r>
              <a:rPr sz="2000" b="0">
                <a:solidFill>
                  <a:srgbClr val="222A33"/>
                </a:solidFill>
              </a:rPr>
              <a:t>Scenario: Dr. Lee (McGill) and Dr. Wright (U of T) — their AI assistants need to collaborate.</a:t>
            </a:r>
          </a:p>
        </p:txBody>
      </p:sp>
      <p:graphicFrame>
        <p:nvGraphicFramePr>
          <p:cNvPr id="5" name="Table 4"/>
          <p:cNvGraphicFramePr>
            <a:graphicFrameLocks noGrp="1"/>
          </p:cNvGraphicFramePr>
          <p:nvPr/>
        </p:nvGraphicFramePr>
        <p:xfrm>
          <a:off x="548640" y="1828800"/>
          <a:ext cx="10972800" cy="4114800"/>
        </p:xfrm>
        <a:graphic>
          <a:graphicData uri="http://schemas.openxmlformats.org/drawingml/2006/table">
            <a:tbl>
              <a:tblPr firstRow="1" bandRow="1">
                <a:tableStyleId>{5C22544A-7EE6-4342-B048-85BDC9FD1C3A}</a:tableStyleId>
              </a:tblPr>
              <a:tblGrid>
                <a:gridCol w="3657600"/>
                <a:gridCol w="3657600"/>
                <a:gridCol w="3657600"/>
              </a:tblGrid>
              <a:tr h="685800">
                <a:tc>
                  <a:txBody>
                    <a:bodyPr/>
                    <a:lstStyle/>
                    <a:p>
                      <a:pPr algn="l"/>
                      <a:r>
                        <a:rPr sz="1600" b="1">
                          <a:solidFill>
                            <a:srgbClr val="FFFFFF"/>
                          </a:solidFill>
                        </a:rPr>
                        <a:t/>
                      </a:r>
                    </a:p>
                  </a:txBody>
                  <a:tcPr>
                    <a:solidFill>
                      <a:srgbClr val="1A4D8F"/>
                    </a:solidFill>
                  </a:tcPr>
                </a:tc>
                <a:tc>
                  <a:txBody>
                    <a:bodyPr/>
                    <a:lstStyle/>
                    <a:p>
                      <a:pPr algn="l"/>
                      <a:r>
                        <a:rPr sz="1600" b="1">
                          <a:solidFill>
                            <a:srgbClr val="FFFFFF"/>
                          </a:solidFill>
                        </a:rPr>
                        <a:t>A2A (P2P)</a:t>
                      </a:r>
                    </a:p>
                  </a:txBody>
                  <a:tcPr>
                    <a:solidFill>
                      <a:srgbClr val="1A4D8F"/>
                    </a:solidFill>
                  </a:tcPr>
                </a:tc>
                <a:tc>
                  <a:txBody>
                    <a:bodyPr/>
                    <a:lstStyle/>
                    <a:p>
                      <a:pPr algn="l"/>
                      <a:r>
                        <a:rPr sz="1600" b="1">
                          <a:solidFill>
                            <a:srgbClr val="FFFFFF"/>
                          </a:solidFill>
                        </a:rPr>
                        <a:t>FA (federated)</a:t>
                      </a:r>
                    </a:p>
                  </a:txBody>
                  <a:tcPr>
                    <a:solidFill>
                      <a:srgbClr val="1A4D8F"/>
                    </a:solidFill>
                  </a:tcPr>
                </a:tc>
              </a:tr>
              <a:tr h="685800">
                <a:tc>
                  <a:txBody>
                    <a:bodyPr/>
                    <a:lstStyle/>
                    <a:p>
                      <a:pPr algn="l"/>
                      <a:r>
                        <a:rPr sz="1600" b="0">
                          <a:solidFill>
                            <a:srgbClr val="222A33"/>
                          </a:solidFill>
                        </a:rPr>
                        <a:t>Reachability</a:t>
                      </a:r>
                    </a:p>
                  </a:txBody>
                  <a:tcPr>
                    <a:solidFill>
                      <a:srgbClr val="FFFFFF"/>
                    </a:solidFill>
                  </a:tcPr>
                </a:tc>
                <a:tc>
                  <a:txBody>
                    <a:bodyPr/>
                    <a:lstStyle/>
                    <a:p>
                      <a:pPr algn="l"/>
                      <a:r>
                        <a:rPr sz="1600" b="0">
                          <a:solidFill>
                            <a:srgbClr val="222A33"/>
                          </a:solidFill>
                        </a:rPr>
                        <a:t>laptop behind firewall: unreachable</a:t>
                      </a:r>
                    </a:p>
                  </a:txBody>
                  <a:tcPr>
                    <a:solidFill>
                      <a:srgbClr val="FFFFFF"/>
                    </a:solidFill>
                  </a:tcPr>
                </a:tc>
                <a:tc>
                  <a:txBody>
                    <a:bodyPr/>
                    <a:lstStyle/>
                    <a:p>
                      <a:pPr algn="l"/>
                      <a:r>
                        <a:rPr sz="1600" b="0">
                          <a:solidFill>
                            <a:srgbClr val="222A33"/>
                          </a:solidFill>
                        </a:rPr>
                        <a:t>host maintains outbound link; agents register on it</a:t>
                      </a:r>
                    </a:p>
                  </a:txBody>
                  <a:tcPr>
                    <a:solidFill>
                      <a:srgbClr val="FFFFFF"/>
                    </a:solidFill>
                  </a:tcPr>
                </a:tc>
              </a:tr>
              <a:tr h="685800">
                <a:tc>
                  <a:txBody>
                    <a:bodyPr/>
                    <a:lstStyle/>
                    <a:p>
                      <a:pPr algn="l"/>
                      <a:r>
                        <a:rPr sz="1600" b="0">
                          <a:solidFill>
                            <a:srgbClr val="222A33"/>
                          </a:solidFill>
                        </a:rPr>
                        <a:t>Identity</a:t>
                      </a:r>
                    </a:p>
                  </a:txBody>
                  <a:tcPr>
                    <a:solidFill>
                      <a:srgbClr val="F0F4F8"/>
                    </a:solidFill>
                  </a:tcPr>
                </a:tc>
                <a:tc>
                  <a:txBody>
                    <a:bodyPr/>
                    <a:lstStyle/>
                    <a:p>
                      <a:pPr algn="l"/>
                      <a:r>
                        <a:rPr sz="1600" b="0">
                          <a:solidFill>
                            <a:srgbClr val="222A33"/>
                          </a:solidFill>
                        </a:rPr>
                        <a:t>URL = identity; new laptop → new URL</a:t>
                      </a:r>
                    </a:p>
                  </a:txBody>
                  <a:tcPr>
                    <a:solidFill>
                      <a:srgbClr val="F0F4F8"/>
                    </a:solidFill>
                  </a:tcPr>
                </a:tc>
                <a:tc>
                  <a:txBody>
                    <a:bodyPr/>
                    <a:lstStyle/>
                    <a:p>
                      <a:pPr algn="l"/>
                      <a:r>
                        <a:rPr sz="1600" b="1">
                          <a:solidFill>
                            <a:srgbClr val="222A33"/>
                          </a:solidFill>
                        </a:rPr>
                        <a:t>stable Entity ID</a:t>
                      </a:r>
                    </a:p>
                  </a:txBody>
                  <a:tcPr>
                    <a:solidFill>
                      <a:srgbClr val="F0F4F8"/>
                    </a:solidFill>
                  </a:tcPr>
                </a:tc>
              </a:tr>
              <a:tr h="685800">
                <a:tc>
                  <a:txBody>
                    <a:bodyPr/>
                    <a:lstStyle/>
                    <a:p>
                      <a:pPr algn="l"/>
                      <a:r>
                        <a:rPr sz="1600" b="0">
                          <a:solidFill>
                            <a:srgbClr val="222A33"/>
                          </a:solidFill>
                        </a:rPr>
                        <a:t>Audit</a:t>
                      </a:r>
                    </a:p>
                  </a:txBody>
                  <a:tcPr>
                    <a:solidFill>
                      <a:srgbClr val="FFFFFF"/>
                    </a:solidFill>
                  </a:tcPr>
                </a:tc>
                <a:tc>
                  <a:txBody>
                    <a:bodyPr/>
                    <a:lstStyle/>
                    <a:p>
                      <a:pPr algn="l"/>
                      <a:r>
                        <a:rPr sz="1600" b="0">
                          <a:solidFill>
                            <a:srgbClr val="222A33"/>
                          </a:solidFill>
                        </a:rPr>
                        <a:t>each agent implements its own</a:t>
                      </a:r>
                    </a:p>
                  </a:txBody>
                  <a:tcPr>
                    <a:solidFill>
                      <a:srgbClr val="FFFFFF"/>
                    </a:solidFill>
                  </a:tcPr>
                </a:tc>
                <a:tc>
                  <a:txBody>
                    <a:bodyPr/>
                    <a:lstStyle/>
                    <a:p>
                      <a:pPr algn="l"/>
                      <a:r>
                        <a:rPr sz="1600" b="0">
                          <a:solidFill>
                            <a:srgbClr val="222A33"/>
                          </a:solidFill>
                        </a:rPr>
                        <a:t>one enforcement point at the campus host</a:t>
                      </a:r>
                    </a:p>
                  </a:txBody>
                  <a:tcPr>
                    <a:solidFill>
                      <a:srgbClr val="FFFFFF"/>
                    </a:solidFill>
                  </a:tcPr>
                </a:tc>
              </a:tr>
              <a:tr h="685800">
                <a:tc>
                  <a:txBody>
                    <a:bodyPr/>
                    <a:lstStyle/>
                    <a:p>
                      <a:pPr algn="l"/>
                      <a:r>
                        <a:rPr sz="1600" b="0">
                          <a:solidFill>
                            <a:srgbClr val="222A33"/>
                          </a:solidFill>
                        </a:rPr>
                        <a:t>Offline</a:t>
                      </a:r>
                    </a:p>
                  </a:txBody>
                  <a:tcPr>
                    <a:solidFill>
                      <a:srgbClr val="F0F4F8"/>
                    </a:solidFill>
                  </a:tcPr>
                </a:tc>
                <a:tc>
                  <a:txBody>
                    <a:bodyPr/>
                    <a:lstStyle/>
                    <a:p>
                      <a:pPr algn="l"/>
                      <a:r>
                        <a:rPr sz="1600" b="0">
                          <a:solidFill>
                            <a:srgbClr val="222A33"/>
                          </a:solidFill>
                        </a:rPr>
                        <a:t>call to offline agent fails</a:t>
                      </a:r>
                    </a:p>
                  </a:txBody>
                  <a:tcPr>
                    <a:solidFill>
                      <a:srgbClr val="F0F4F8"/>
                    </a:solidFill>
                  </a:tcPr>
                </a:tc>
                <a:tc>
                  <a:txBody>
                    <a:bodyPr/>
                    <a:lstStyle/>
                    <a:p>
                      <a:pPr algn="l"/>
                      <a:r>
                        <a:rPr sz="1600" b="1">
                          <a:solidFill>
                            <a:srgbClr val="222A33"/>
                          </a:solidFill>
                        </a:rPr>
                        <a:t>mailbox queues</a:t>
                      </a:r>
                      <a:r>
                        <a:rPr sz="1600" b="0">
                          <a:solidFill>
                            <a:srgbClr val="222A33"/>
                          </a:solidFill>
                        </a:rPr>
                        <a:t>; delivered later</a:t>
                      </a:r>
                    </a:p>
                  </a:txBody>
                  <a:tcPr>
                    <a:solidFill>
                      <a:srgbClr val="F0F4F8"/>
                    </a:solidFill>
                  </a:tcPr>
                </a:tc>
              </a:tr>
              <a:tr h="685800">
                <a:tc>
                  <a:txBody>
                    <a:bodyPr/>
                    <a:lstStyle/>
                    <a:p>
                      <a:pPr algn="l"/>
                      <a:r>
                        <a:rPr sz="1600" b="0">
                          <a:solidFill>
                            <a:srgbClr val="222A33"/>
                          </a:solidFill>
                        </a:rPr>
                        <a:t>Privacy</a:t>
                      </a:r>
                    </a:p>
                  </a:txBody>
                  <a:tcPr>
                    <a:solidFill>
                      <a:srgbClr val="FFFFFF"/>
                    </a:solidFill>
                  </a:tcPr>
                </a:tc>
                <a:tc>
                  <a:txBody>
                    <a:bodyPr/>
                    <a:lstStyle/>
                    <a:p>
                      <a:pPr algn="l"/>
                      <a:r>
                        <a:rPr sz="1600" b="0">
                          <a:solidFill>
                            <a:srgbClr val="222A33"/>
                          </a:solidFill>
                        </a:rPr>
                        <a:t>TLS terminates at relays</a:t>
                      </a:r>
                    </a:p>
                  </a:txBody>
                  <a:tcPr>
                    <a:solidFill>
                      <a:srgbClr val="FFFFFF"/>
                    </a:solidFill>
                  </a:tcPr>
                </a:tc>
                <a:tc>
                  <a:txBody>
                    <a:bodyPr/>
                    <a:lstStyle/>
                    <a:p>
                      <a:pPr algn="l"/>
                      <a:r>
                        <a:rPr sz="1600" b="0">
                          <a:solidFill>
                            <a:srgbClr val="222A33"/>
                          </a:solidFill>
                        </a:rPr>
                        <a:t>per-entity keys; relays cannot read content</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lIns="0" rIns="0" tIns="0" bIns="0" anchor="t">
            <a:spAutoFit/>
          </a:bodyPr>
          <a:lstStyle/>
          <a:p>
            <a:pPr algn="l"/>
            <a:r>
              <a:rPr sz="3400" b="1">
                <a:solidFill>
                  <a:srgbClr val="1A4D8F"/>
                </a:solidFill>
              </a:rPr>
              <a:t>Lab agenda</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365760" y="1463040"/>
          <a:ext cx="11430000" cy="2377440"/>
        </p:xfrm>
        <a:graphic>
          <a:graphicData uri="http://schemas.openxmlformats.org/drawingml/2006/table">
            <a:tbl>
              <a:tblPr firstRow="1" bandRow="1">
                <a:tableStyleId>{5C22544A-7EE6-4342-B048-85BDC9FD1C3A}</a:tableStyleId>
              </a:tblPr>
              <a:tblGrid>
                <a:gridCol w="2857500"/>
                <a:gridCol w="2857500"/>
                <a:gridCol w="2857500"/>
                <a:gridCol w="2857500"/>
              </a:tblGrid>
              <a:tr h="594360">
                <a:tc>
                  <a:txBody>
                    <a:bodyPr/>
                    <a:lstStyle/>
                    <a:p>
                      <a:pPr algn="l"/>
                      <a:r>
                        <a:rPr sz="1700" b="1">
                          <a:solidFill>
                            <a:srgbClr val="FFFFFF"/>
                          </a:solidFill>
                        </a:rPr>
                        <a:t>#</a:t>
                      </a:r>
                    </a:p>
                  </a:txBody>
                  <a:tcPr>
                    <a:solidFill>
                      <a:srgbClr val="1A4D8F"/>
                    </a:solidFill>
                  </a:tcPr>
                </a:tc>
                <a:tc>
                  <a:txBody>
                    <a:bodyPr/>
                    <a:lstStyle/>
                    <a:p>
                      <a:pPr algn="l"/>
                      <a:r>
                        <a:rPr sz="1700" b="1">
                          <a:solidFill>
                            <a:srgbClr val="FFFFFF"/>
                          </a:solidFill>
                        </a:rPr>
                        <a:t>Topic</a:t>
                      </a:r>
                    </a:p>
                  </a:txBody>
                  <a:tcPr>
                    <a:solidFill>
                      <a:srgbClr val="1A4D8F"/>
                    </a:solidFill>
                  </a:tcPr>
                </a:tc>
                <a:tc>
                  <a:txBody>
                    <a:bodyPr/>
                    <a:lstStyle/>
                    <a:p>
                      <a:pPr algn="l"/>
                      <a:r>
                        <a:rPr sz="1700" b="1">
                          <a:solidFill>
                            <a:srgbClr val="FFFFFF"/>
                          </a:solidFill>
                        </a:rPr>
                        <a:t>Time</a:t>
                      </a:r>
                    </a:p>
                  </a:txBody>
                  <a:tcPr>
                    <a:solidFill>
                      <a:srgbClr val="1A4D8F"/>
                    </a:solidFill>
                  </a:tcPr>
                </a:tc>
                <a:tc>
                  <a:txBody>
                    <a:bodyPr/>
                    <a:lstStyle/>
                    <a:p>
                      <a:pPr algn="l"/>
                      <a:r>
                        <a:rPr sz="1700" b="1">
                          <a:solidFill>
                            <a:srgbClr val="FFFFFF"/>
                          </a:solidFill>
                        </a:rPr>
                        <a:t>Notebook</a:t>
                      </a:r>
                    </a:p>
                  </a:txBody>
                  <a:tcPr>
                    <a:solidFill>
                      <a:srgbClr val="1A4D8F"/>
                    </a:solidFill>
                  </a:tcPr>
                </a:tc>
              </a:tr>
              <a:tr h="594360">
                <a:tc>
                  <a:txBody>
                    <a:bodyPr/>
                    <a:lstStyle/>
                    <a:p>
                      <a:pPr algn="l"/>
                      <a:r>
                        <a:rPr sz="1700" b="0">
                          <a:solidFill>
                            <a:srgbClr val="222A33"/>
                          </a:solidFill>
                        </a:rPr>
                        <a:t>1</a:t>
                      </a:r>
                    </a:p>
                  </a:txBody>
                  <a:tcPr>
                    <a:solidFill>
                      <a:srgbClr val="FFFFFF"/>
                    </a:solidFill>
                  </a:tcPr>
                </a:tc>
                <a:tc>
                  <a:txBody>
                    <a:bodyPr/>
                    <a:lstStyle/>
                    <a:p>
                      <a:pPr algn="l"/>
                      <a:r>
                        <a:rPr sz="1700" b="1">
                          <a:solidFill>
                            <a:srgbClr val="222A33"/>
                          </a:solidFill>
                        </a:rPr>
                        <a:t>MCP</a:t>
                      </a:r>
                      <a:r>
                        <a:rPr sz="1700" b="0">
                          <a:solidFill>
                            <a:srgbClr val="222A33"/>
                          </a:solidFill>
                        </a:rPr>
                        <a:t> — Claude with stock-data + plotting tools</a:t>
                      </a:r>
                    </a:p>
                  </a:txBody>
                  <a:tcPr>
                    <a:solidFill>
                      <a:srgbClr val="FFFFFF"/>
                    </a:solidFill>
                  </a:tcPr>
                </a:tc>
                <a:tc>
                  <a:txBody>
                    <a:bodyPr/>
                    <a:lstStyle/>
                    <a:p>
                      <a:pPr algn="l"/>
                      <a:r>
                        <a:rPr sz="1700" b="0">
                          <a:solidFill>
                            <a:srgbClr val="222A33"/>
                          </a:solidFill>
                        </a:rPr>
                        <a:t>~10 min</a:t>
                      </a:r>
                    </a:p>
                  </a:txBody>
                  <a:tcPr>
                    <a:solidFill>
                      <a:srgbClr val="FFFFFF"/>
                    </a:solidFill>
                  </a:tcPr>
                </a:tc>
                <a:tc>
                  <a:txBody>
                    <a:bodyPr/>
                    <a:lstStyle/>
                    <a:p>
                      <a:pPr algn="l"/>
                      <a:r>
                        <a:rPr sz="1700" b="0">
                          <a:solidFill>
                            <a:srgbClr val="222A33"/>
                          </a:solidFill>
                        </a:rPr>
                        <a:t>demo1_mcp/01_mcp_demo.ipynb</a:t>
                      </a:r>
                    </a:p>
                  </a:txBody>
                  <a:tcPr>
                    <a:solidFill>
                      <a:srgbClr val="FFFFFF"/>
                    </a:solidFill>
                  </a:tcPr>
                </a:tc>
              </a:tr>
              <a:tr h="594360">
                <a:tc>
                  <a:txBody>
                    <a:bodyPr/>
                    <a:lstStyle/>
                    <a:p>
                      <a:pPr algn="l"/>
                      <a:r>
                        <a:rPr sz="1700" b="0">
                          <a:solidFill>
                            <a:srgbClr val="222A33"/>
                          </a:solidFill>
                        </a:rPr>
                        <a:t>2</a:t>
                      </a:r>
                    </a:p>
                  </a:txBody>
                  <a:tcPr>
                    <a:solidFill>
                      <a:srgbClr val="F0F4F8"/>
                    </a:solidFill>
                  </a:tcPr>
                </a:tc>
                <a:tc>
                  <a:txBody>
                    <a:bodyPr/>
                    <a:lstStyle/>
                    <a:p>
                      <a:pPr algn="l"/>
                      <a:r>
                        <a:rPr sz="1700" b="1">
                          <a:solidFill>
                            <a:srgbClr val="222A33"/>
                          </a:solidFill>
                        </a:rPr>
                        <a:t>A2A</a:t>
                      </a:r>
                      <a:r>
                        <a:rPr sz="1700" b="0">
                          <a:solidFill>
                            <a:srgbClr val="222A33"/>
                          </a:solidFill>
                        </a:rPr>
                        <a:t> — delegate "Analyze NVDA" to an analyst agent</a:t>
                      </a:r>
                    </a:p>
                  </a:txBody>
                  <a:tcPr>
                    <a:solidFill>
                      <a:srgbClr val="F0F4F8"/>
                    </a:solidFill>
                  </a:tcPr>
                </a:tc>
                <a:tc>
                  <a:txBody>
                    <a:bodyPr/>
                    <a:lstStyle/>
                    <a:p>
                      <a:pPr algn="l"/>
                      <a:r>
                        <a:rPr sz="1700" b="0">
                          <a:solidFill>
                            <a:srgbClr val="222A33"/>
                          </a:solidFill>
                        </a:rPr>
                        <a:t>~10 min</a:t>
                      </a:r>
                    </a:p>
                  </a:txBody>
                  <a:tcPr>
                    <a:solidFill>
                      <a:srgbClr val="F0F4F8"/>
                    </a:solidFill>
                  </a:tcPr>
                </a:tc>
                <a:tc>
                  <a:txBody>
                    <a:bodyPr/>
                    <a:lstStyle/>
                    <a:p>
                      <a:pPr algn="l"/>
                      <a:r>
                        <a:rPr sz="1700" b="0">
                          <a:solidFill>
                            <a:srgbClr val="222A33"/>
                          </a:solidFill>
                        </a:rPr>
                        <a:t>demo2_a2a/02_a2a_demo.ipynb</a:t>
                      </a:r>
                    </a:p>
                  </a:txBody>
                  <a:tcPr>
                    <a:solidFill>
                      <a:srgbClr val="F0F4F8"/>
                    </a:solidFill>
                  </a:tcPr>
                </a:tc>
              </a:tr>
              <a:tr h="594360">
                <a:tc>
                  <a:txBody>
                    <a:bodyPr/>
                    <a:lstStyle/>
                    <a:p>
                      <a:pPr algn="l"/>
                      <a:r>
                        <a:rPr sz="1700" b="0">
                          <a:solidFill>
                            <a:srgbClr val="222A33"/>
                          </a:solidFill>
                        </a:rPr>
                        <a:t>3</a:t>
                      </a:r>
                    </a:p>
                  </a:txBody>
                  <a:tcPr>
                    <a:solidFill>
                      <a:srgbClr val="FFFFFF"/>
                    </a:solidFill>
                  </a:tcPr>
                </a:tc>
                <a:tc>
                  <a:txBody>
                    <a:bodyPr/>
                    <a:lstStyle/>
                    <a:p>
                      <a:pPr algn="l"/>
                      <a:r>
                        <a:rPr sz="1700" b="1">
                          <a:solidFill>
                            <a:srgbClr val="222A33"/>
                          </a:solidFill>
                        </a:rPr>
                        <a:t>FA</a:t>
                      </a:r>
                      <a:r>
                        <a:rPr sz="1700" b="0">
                          <a:solidFill>
                            <a:srgbClr val="222A33"/>
                          </a:solidFill>
                        </a:rPr>
                        <a:t> — equity analyst discovers + calls a macro analyst on another host</a:t>
                      </a:r>
                    </a:p>
                  </a:txBody>
                  <a:tcPr>
                    <a:solidFill>
                      <a:srgbClr val="FFFFFF"/>
                    </a:solidFill>
                  </a:tcPr>
                </a:tc>
                <a:tc>
                  <a:txBody>
                    <a:bodyPr/>
                    <a:lstStyle/>
                    <a:p>
                      <a:pPr algn="l"/>
                      <a:r>
                        <a:rPr sz="1700" b="0">
                          <a:solidFill>
                            <a:srgbClr val="222A33"/>
                          </a:solidFill>
                        </a:rPr>
                        <a:t>~10 min</a:t>
                      </a:r>
                    </a:p>
                  </a:txBody>
                  <a:tcPr>
                    <a:solidFill>
                      <a:srgbClr val="FFFFFF"/>
                    </a:solidFill>
                  </a:tcPr>
                </a:tc>
                <a:tc>
                  <a:txBody>
                    <a:bodyPr/>
                    <a:lstStyle/>
                    <a:p>
                      <a:pPr algn="l"/>
                      <a:r>
                        <a:rPr sz="1700" b="0">
                          <a:solidFill>
                            <a:srgbClr val="222A33"/>
                          </a:solidFill>
                        </a:rPr>
                        <a:t>demo3_fa/03_fa_demo.ipynb</a:t>
                      </a:r>
                    </a:p>
                  </a:txBody>
                  <a:tcPr>
                    <a:solidFill>
                      <a:srgbClr val="FFFFFF"/>
                    </a:solidFill>
                  </a:tcPr>
                </a:tc>
              </a:tr>
            </a:tbl>
          </a:graphicData>
        </a:graphic>
      </p:graphicFrame>
      <p:sp>
        <p:nvSpPr>
          <p:cNvPr id="5" name="TextBox 4"/>
          <p:cNvSpPr txBox="1"/>
          <p:nvPr/>
        </p:nvSpPr>
        <p:spPr>
          <a:xfrm>
            <a:off x="548640" y="4937760"/>
            <a:ext cx="10972800" cy="502920"/>
          </a:xfrm>
          <a:prstGeom prst="rect">
            <a:avLst/>
          </a:prstGeom>
          <a:noFill/>
        </p:spPr>
        <p:txBody>
          <a:bodyPr wrap="square" lIns="0" rIns="0" tIns="0" bIns="0" anchor="t">
            <a:spAutoFit/>
          </a:bodyPr>
          <a:lstStyle/>
          <a:p>
            <a:pPr algn="ctr"/>
            <a:r>
              <a:rPr sz="2200" b="1">
                <a:solidFill>
                  <a:srgbClr val="1A4D8F"/>
                </a:solidFill>
              </a:rPr>
              <a:t>Same input across all three: a question about NVDA.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377440"/>
            <a:ext cx="10972800" cy="1097280"/>
          </a:xfrm>
          <a:prstGeom prst="rect">
            <a:avLst/>
          </a:prstGeom>
          <a:noFill/>
        </p:spPr>
        <p:txBody>
          <a:bodyPr wrap="square" lIns="0" rIns="0" tIns="0" bIns="0" anchor="t">
            <a:spAutoFit/>
          </a:bodyPr>
          <a:lstStyle/>
          <a:p>
            <a:pPr algn="l"/>
            <a:r>
              <a:rPr sz="5600" b="1">
                <a:solidFill>
                  <a:srgbClr val="1A4D8F"/>
                </a:solidFill>
              </a:rPr>
              <a:t>Let's begin →</a:t>
            </a:r>
          </a:p>
        </p:txBody>
      </p:sp>
      <p:sp>
        <p:nvSpPr>
          <p:cNvPr id="3" name="TextBox 2"/>
          <p:cNvSpPr txBox="1"/>
          <p:nvPr/>
        </p:nvSpPr>
        <p:spPr>
          <a:xfrm>
            <a:off x="548640" y="3566160"/>
            <a:ext cx="10972800" cy="731520"/>
          </a:xfrm>
          <a:prstGeom prst="rect">
            <a:avLst/>
          </a:prstGeom>
          <a:noFill/>
        </p:spPr>
        <p:txBody>
          <a:bodyPr wrap="square" lIns="0" rIns="0" tIns="0" bIns="0" anchor="t">
            <a:spAutoFit/>
          </a:bodyPr>
          <a:lstStyle/>
          <a:p>
            <a:pPr algn="l"/>
            <a:r>
              <a:rPr sz="3000" b="0">
                <a:solidFill>
                  <a:srgbClr val="222A33"/>
                </a:solidFill>
              </a:rPr>
              <a:t>demo1_mcp/01_mcp_demo.ipynb</a:t>
            </a:r>
          </a:p>
        </p:txBody>
      </p:sp>
      <p:sp>
        <p:nvSpPr>
          <p:cNvPr id="4" name="TextBox 3"/>
          <p:cNvSpPr txBox="1"/>
          <p:nvPr/>
        </p:nvSpPr>
        <p:spPr>
          <a:xfrm>
            <a:off x="548640" y="6035040"/>
            <a:ext cx="10972800" cy="457200"/>
          </a:xfrm>
          <a:prstGeom prst="rect">
            <a:avLst/>
          </a:prstGeom>
          <a:noFill/>
        </p:spPr>
        <p:txBody>
          <a:bodyPr wrap="square" lIns="0" rIns="0" tIns="0" bIns="0" anchor="t">
            <a:spAutoFit/>
          </a:bodyPr>
          <a:lstStyle/>
          <a:p>
            <a:pPr algn="l"/>
            <a:r>
              <a:rPr sz="1600" b="0">
                <a:solidFill>
                  <a:srgbClr val="66707A"/>
                </a:solidFill>
              </a:rPr>
              <a:t>Interrupt with questions at any 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463040"/>
            <a:ext cx="10972800" cy="914400"/>
          </a:xfrm>
          <a:prstGeom prst="rect">
            <a:avLst/>
          </a:prstGeom>
          <a:noFill/>
        </p:spPr>
        <p:txBody>
          <a:bodyPr wrap="square" lIns="0" rIns="0" tIns="0" bIns="0" anchor="t">
            <a:spAutoFit/>
          </a:bodyPr>
          <a:lstStyle/>
          <a:p>
            <a:pPr algn="l"/>
            <a:r>
              <a:rPr sz="6200" b="1">
                <a:solidFill>
                  <a:srgbClr val="1A4D8F"/>
                </a:solidFill>
              </a:rPr>
              <a:t>Q&amp;A</a:t>
            </a:r>
          </a:p>
        </p:txBody>
      </p:sp>
      <p:sp>
        <p:nvSpPr>
          <p:cNvPr id="3" name="TextBox 2"/>
          <p:cNvSpPr txBox="1"/>
          <p:nvPr/>
        </p:nvSpPr>
        <p:spPr>
          <a:xfrm>
            <a:off x="594360" y="2514600"/>
            <a:ext cx="10972800" cy="640080"/>
          </a:xfrm>
          <a:prstGeom prst="rect">
            <a:avLst/>
          </a:prstGeom>
          <a:noFill/>
        </p:spPr>
        <p:txBody>
          <a:bodyPr wrap="square" lIns="0" rIns="0" tIns="0" bIns="0" anchor="t">
            <a:spAutoFit/>
          </a:bodyPr>
          <a:lstStyle/>
          <a:p>
            <a:pPr algn="l"/>
            <a:r>
              <a:rPr sz="3000" b="0">
                <a:solidFill>
                  <a:srgbClr val="222A33"/>
                </a:solidFill>
              </a:rPr>
              <a:t>Questions, comments, or ideas to try?</a:t>
            </a:r>
          </a:p>
        </p:txBody>
      </p:sp>
      <p:sp>
        <p:nvSpPr>
          <p:cNvPr id="4" name="TextBox 3"/>
          <p:cNvSpPr txBox="1"/>
          <p:nvPr/>
        </p:nvSpPr>
        <p:spPr>
          <a:xfrm>
            <a:off x="685800" y="3886200"/>
            <a:ext cx="10972800" cy="411480"/>
          </a:xfrm>
          <a:prstGeom prst="rect">
            <a:avLst/>
          </a:prstGeom>
          <a:noFill/>
        </p:spPr>
        <p:txBody>
          <a:bodyPr wrap="square" lIns="0" rIns="0" tIns="0" bIns="0" anchor="t">
            <a:spAutoFit/>
          </a:bodyPr>
          <a:lstStyle/>
          <a:p>
            <a:pPr algn="l"/>
            <a:r>
              <a:rPr sz="2200" b="1">
                <a:solidFill>
                  <a:srgbClr val="1A4D8F"/>
                </a:solidFill>
                <a:hlinkClick r:id="rId2"/>
              </a:rPr>
              <a:t>Repo: https://github.com/jackwu502/ivado-protocol</a:t>
            </a:r>
          </a:p>
        </p:txBody>
      </p:sp>
      <p:sp>
        <p:nvSpPr>
          <p:cNvPr id="5" name="TextBox 4"/>
          <p:cNvSpPr txBox="1"/>
          <p:nvPr/>
        </p:nvSpPr>
        <p:spPr>
          <a:xfrm>
            <a:off x="685800" y="4434840"/>
            <a:ext cx="10972800" cy="411480"/>
          </a:xfrm>
          <a:prstGeom prst="rect">
            <a:avLst/>
          </a:prstGeom>
          <a:noFill/>
        </p:spPr>
        <p:txBody>
          <a:bodyPr wrap="square" lIns="0" rIns="0" tIns="0" bIns="0" anchor="t">
            <a:spAutoFit/>
          </a:bodyPr>
          <a:lstStyle/>
          <a:p>
            <a:pPr algn="l"/>
            <a:r>
              <a:rPr sz="2200" b="1">
                <a:solidFill>
                  <a:srgbClr val="1A4D8F"/>
                </a:solidFill>
                <a:hlinkClick r:id="rId3"/>
              </a:rPr>
              <a:t>Contact: dekun.wu@umontreal.ca</a:t>
            </a:r>
          </a:p>
        </p:txBody>
      </p:sp>
      <p:sp>
        <p:nvSpPr>
          <p:cNvPr id="6" name="TextBox 5"/>
          <p:cNvSpPr txBox="1"/>
          <p:nvPr/>
        </p:nvSpPr>
        <p:spPr>
          <a:xfrm>
            <a:off x="685800" y="5806440"/>
            <a:ext cx="10972800" cy="365760"/>
          </a:xfrm>
          <a:prstGeom prst="rect">
            <a:avLst/>
          </a:prstGeom>
          <a:noFill/>
        </p:spPr>
        <p:txBody>
          <a:bodyPr wrap="square" lIns="0" rIns="0" tIns="0" bIns="0" anchor="t">
            <a:spAutoFit/>
          </a:bodyPr>
          <a:lstStyle/>
          <a:p>
            <a:pPr algn="l"/>
            <a:r>
              <a:rPr sz="2000" b="0">
                <a:solidFill>
                  <a:srgbClr val="66707A"/>
                </a:solidFill>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