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68338"/>
  </p:normalViewPr>
  <p:slideViewPr>
    <p:cSldViewPr snapToGrid="0" snapToObjects="1">
      <p:cViewPr varScale="1">
        <p:scale>
          <a:sx n="84" d="100"/>
          <a:sy n="84" d="100"/>
        </p:scale>
        <p:origin x="183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The next forty minutes are split into two parts. First, I will give a short conceptual overview of three agent protocols: MCP, A2A, and FA. Then we will switch to </a:t>
            </a:r>
            <a:r>
              <a:rPr dirty="0" err="1"/>
              <a:t>Jupyter</a:t>
            </a:r>
            <a:r>
              <a:rPr dirty="0"/>
              <a:t> and run three small demos.</a:t>
            </a:r>
          </a:p>
          <a:p>
            <a:endParaRPr dirty="0"/>
          </a:p>
          <a:p>
            <a:r>
              <a:rPr dirty="0"/>
              <a:t>The running example is intentionally simple: we ask an agent about one stock, NVDA. We keep the task almost the same across the demos, so the protocol difference is visible.. </a:t>
            </a:r>
            <a:r>
              <a:rPr lang="en-US" altLang="zh-CN" dirty="0"/>
              <a:t>Through</a:t>
            </a:r>
            <a:r>
              <a:rPr lang="zh-CN" altLang="en-US" dirty="0"/>
              <a:t> </a:t>
            </a:r>
            <a:r>
              <a:rPr lang="en-US" altLang="zh-CN" dirty="0"/>
              <a:t>those</a:t>
            </a:r>
            <a:r>
              <a:rPr lang="zh-CN" altLang="en-US" dirty="0"/>
              <a:t> </a:t>
            </a:r>
            <a:r>
              <a:rPr lang="en-US" altLang="zh-CN" dirty="0"/>
              <a:t>examples</a:t>
            </a:r>
            <a:r>
              <a:rPr lang="zh-CN" altLang="en-US" dirty="0"/>
              <a:t> </a:t>
            </a:r>
            <a:r>
              <a:rPr lang="en-US" altLang="zh-CN" dirty="0"/>
              <a:t>I</a:t>
            </a:r>
            <a:r>
              <a:rPr lang="zh-CN" altLang="en-US" dirty="0"/>
              <a:t> </a:t>
            </a:r>
            <a:r>
              <a:rPr lang="en-US" altLang="zh-CN" dirty="0"/>
              <a:t>will</a:t>
            </a:r>
            <a:r>
              <a:rPr lang="zh-CN" altLang="en-US" dirty="0"/>
              <a:t> </a:t>
            </a:r>
            <a:r>
              <a:rPr lang="en-US" altLang="zh-CN" dirty="0"/>
              <a:t>show</a:t>
            </a:r>
            <a:r>
              <a:rPr lang="zh-CN" altLang="en-US" dirty="0"/>
              <a:t> </a:t>
            </a:r>
            <a:r>
              <a:rPr dirty="0"/>
              <a:t>how an LLM reaches tools, delegates work, and finds other </a:t>
            </a:r>
            <a:r>
              <a:t>agents.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protocols, we need one shared definition.</a:t>
            </a:r>
          </a:p>
          <a:p>
            <a:endParaRPr/>
          </a:p>
          <a:p>
            <a:r>
              <a:t>When I say "agent" today, I do not just mean a chatbot. I mean a system where an LLM can decide what action to take next. The user asks a question. The LLM reasons about it. If it needs outside information, it can call a tool: maybe a database, a Python function, an R script, a file system, or another agent.</a:t>
            </a:r>
          </a:p>
          <a:p>
            <a:endParaRPr/>
          </a:p>
          <a:p>
            <a:r>
              <a:t>Then the result comes back to the model, and the model decides whether it has enough information or needs another step. That loop is the important part.</a:t>
            </a:r>
          </a:p>
          <a:p>
            <a:endParaRPr/>
          </a:p>
          <a:p>
            <a:r>
              <a:t>So the simple working definition is: an LLM plus tools, maybe some state, and an autonomous decision loop. Everything today is about standardizing the arrows in this diagram: how does the LLM call tools, and how do tools or agents describe themselves?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three protocols we will use.</a:t>
            </a:r>
          </a:p>
          <a:p>
            <a:endParaRPr/>
          </a:p>
          <a:p>
            <a:r>
              <a:t>MCP, the Model Context Protocol, is mainly about connecting an agent to tools and data. For example, a stock-data tool, a plotting tool, a SQL database, or a research lab's internal analysis pipeline.</a:t>
            </a:r>
          </a:p>
          <a:p>
            <a:endParaRPr/>
          </a:p>
          <a:p>
            <a:r>
              <a:t>A2A, Agent-to-Agent, is about connecting one agent to another agent. The difference is that the thing being called is not just a function. It has its own LLM loop inside and can decide how to solve the task.</a:t>
            </a:r>
          </a:p>
          <a:p>
            <a:endParaRPr/>
          </a:p>
          <a:p>
            <a:r>
              <a:t>FA, Foundation Agents Protocol, goes broader. It treats humans, agents, tools, and services as entities on a network. The extra idea is federation: stable identity, discovery, routing, and relationships across hosts.</a:t>
            </a:r>
          </a:p>
          <a:p>
            <a:endParaRPr/>
          </a:p>
          <a:p>
            <a:r>
              <a:t>The scope grows from left to right. MCP gives a model tools. A2A lets you delegate to another smart agent. FA lets agents live on a network and discover each other.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MCP is the easiest one to understand if you already use Python or R.</a:t>
            </a:r>
          </a:p>
          <a:p>
            <a:endParaRPr/>
          </a:p>
          <a:p>
            <a:r>
              <a:t>Think of an MCP server as a wrapper around functions. The server says: here are the functions I provide, here are their argument names and types, and here is what each function does. The LLM host, such as Claude Desktop, Cursor, or our Jupyter notebook, reads that description and can call those tools through a standard protocol.</a:t>
            </a:r>
          </a:p>
          <a:p>
            <a:endParaRPr/>
          </a:p>
          <a:p>
            <a:r>
              <a:t>In this lab, our stock MCP server wraps yfinance, and our visualization MCP server wraps matplotlib. But the same idea could wrap a SQL query, a Stan model, a simulation, or an R script.</a:t>
            </a:r>
          </a:p>
          <a:p>
            <a:endParaRPr/>
          </a:p>
          <a:p>
            <a:r>
              <a:t>The useful part is reuse. You write the tool server once. Any MCP-aware client can use it. You do not have to rewrite the same tool separately for every LLM application.</a:t>
            </a:r>
          </a:p>
          <a:p>
            <a:endParaRPr/>
          </a:p>
          <a:p>
            <a:r>
              <a:t>The mental model is: MCP is the keypad for the LLM. The model decides which button to press, and MCP defines what each button means.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A2A starts when the thing you want to call is not just a tool. It is another agent.</a:t>
            </a:r>
          </a:p>
          <a:p>
            <a:endParaRPr/>
          </a:p>
          <a:p>
            <a:r>
              <a:t>With MCP, the caller sees a list of functions and chooses among them. With A2A, the caller sends a higher-level request to another agent, usually over HTTP and JSON-RPC. The other agent may use tools internally, but the caller does not need to know which tools those are.</a:t>
            </a:r>
          </a:p>
          <a:p>
            <a:endParaRPr/>
          </a:p>
          <a:p>
            <a:r>
              <a:t>A2A agents describe themselves with an agent card. The card says who the agent is, what skills it offers, what input and output formats it supports, and where to send requests.</a:t>
            </a:r>
          </a:p>
          <a:p>
            <a:endParaRPr/>
          </a:p>
          <a:p>
            <a:r>
              <a:t>A2A also has the idea of a task lifecycle. That matters because agent work can be slow. A research task might take seconds or minutes, and the caller needs a way to track whether the task is submitted, running, completed, or failed.</a:t>
            </a:r>
          </a:p>
          <a:p>
            <a:endParaRPr/>
          </a:p>
          <a:p>
            <a:r>
              <a:t>The mental model is: MCP is a calculator. A2A is a phone call to a colleague. You do not press every button yourself; you delegate the problem.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 adds a network layer.</a:t>
            </a:r>
          </a:p>
          <a:p>
            <a:endParaRPr/>
          </a:p>
          <a:p>
            <a:r>
              <a:t>In the diagram, CloudHost is a relay. It does not need to contain an agent itself. It can just route messages. Under it, HostA contains Alice and an equity analyst. HostB contains a macro analyst.</a:t>
            </a:r>
          </a:p>
          <a:p>
            <a:endParaRPr/>
          </a:p>
          <a:p>
            <a:r>
              <a:t>The important difference from A2A is that entities can have stable identity and can be discovered through the network. The caller does not have to hard-code every agent URL in advance.</a:t>
            </a:r>
          </a:p>
          <a:p>
            <a:endParaRPr/>
          </a:p>
          <a:p>
            <a:r>
              <a:t>FA has several abstractions. An entity can be a human, an agent, a tool, an organization, or an arbiter. A host is where entities live and where messages route. A friend relationship is a persistent relationship between entities, created through a handshake. Federation means entities are addressed by identity rather than just by a machine URL.</a:t>
            </a:r>
          </a:p>
          <a:p>
            <a:endParaRPr/>
          </a:p>
          <a:p>
            <a:r>
              <a:t>There are also trade primitives, such as contracts, payments, ratings, and arbitration. We will not use those in the live demo, but they are part of the reason FA is broader than just "agent calls agent."</a:t>
            </a:r>
          </a:p>
          <a:p>
            <a:endParaRPr/>
          </a:p>
          <a:p>
            <a:r>
              <a:t>The mental model is: FA is closer to email or a postal system for agents. There are stable addresses, routing hosts, and relationships that survive beyond one HTTP call.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practical chooser.</a:t>
            </a:r>
          </a:p>
          <a:p>
            <a:endParaRPr/>
          </a:p>
          <a:p>
            <a:r>
              <a:t>If all you need is for an LLM to call your data source or analysis code, MCP is enough. It gives you a clean interface between the model and your tools.</a:t>
            </a:r>
          </a:p>
          <a:p>
            <a:endParaRPr/>
          </a:p>
          <a:p>
            <a:r>
              <a:t>If you want to delegate a full task to another agent, use the A2A shape. The caller does not manage the callee's internal tool use. It just asks for an outcome.</a:t>
            </a:r>
          </a:p>
          <a:p>
            <a:endParaRPr/>
          </a:p>
          <a:p>
            <a:r>
              <a:t>If you want agents to find each other across deployments or organizations, you need a federation layer. That is the FA shape. It adds stable entity IDs, discovery, routing hosts, friend relationships, mailboxes, and end-to-end message concepts.</a:t>
            </a:r>
          </a:p>
          <a:p>
            <a:endParaRPr/>
          </a:p>
          <a:p>
            <a:r>
              <a:t>These protocols are not mutually exclusive. In our demos, the A2A agent still uses MCP internally. The FA equity analyst also uses MCP for stock data, and uses FA to discover and call the macro analyst.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concrete scenario.</a:t>
            </a:r>
          </a:p>
          <a:p>
            <a:endParaRPr/>
          </a:p>
          <a:p>
            <a:r>
              <a:t>Suppose Dr. Lee at McGill and Dr. Wright at U of T each have AI assistants, and those assistants need to collaborate. A pure peer-to-peer setup sounds simple, but in practice it runs into infrastructure problems.</a:t>
            </a:r>
          </a:p>
          <a:p>
            <a:endParaRPr/>
          </a:p>
          <a:p>
            <a:r>
              <a:t>Reachability is the first one. A laptop behind a campus firewall may not accept inbound connections. Identity is another one. If the agent is identified by a URL and the URL changes, links break. Audit and compliance are also hard if every agent implements them separately. Offline delivery is hard because a direct call fails when the other side is unavailable. Privacy is hard when every relay or service boundary has to be trusted independently.</a:t>
            </a:r>
          </a:p>
          <a:p>
            <a:endParaRPr/>
          </a:p>
          <a:p>
            <a:r>
              <a:t>A federated design moves those concerns into the protocol layer. Hosts can route messages. Entity IDs can stay stable even when deployment changes. Mailboxes can queue messages. Organizations can put policy at the host boundary.</a:t>
            </a:r>
          </a:p>
          <a:p>
            <a:endParaRPr/>
          </a:p>
          <a:p>
            <a:r>
              <a:t>So the point is not that A2A is bad. A2A is useful. The point is that once you want a network of agents across organizations, federation becomes a different design problem.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will run the same basic task through three shapes.</a:t>
            </a:r>
          </a:p>
          <a:p>
            <a:endParaRPr/>
          </a:p>
          <a:p>
            <a:r>
              <a:t>Demo 1 is MCP. Claude gets two MCP servers: one for stock data and one for plotting. We ask a natural-language question, and Claude chooses which tools to call.</a:t>
            </a:r>
          </a:p>
          <a:p>
            <a:endParaRPr/>
          </a:p>
          <a:p>
            <a:r>
              <a:t>Demo 2 is A2A. We start a stock analyst agent as an HTTP server. We send one sentence to that agent. The analyst agent runs its own internal Claude loop and returns a written brief.</a:t>
            </a:r>
          </a:p>
          <a:p>
            <a:endParaRPr/>
          </a:p>
          <a:p>
            <a:r>
              <a:t>Demo 3 is FA. Alice asks an equity analyst for a stock brief with sector context. The equity analyst discovers a macro analyst on another host, calls it, and weaves the macro response into the final answer.</a:t>
            </a:r>
          </a:p>
          <a:p>
            <a:endParaRPr/>
          </a:p>
          <a:p>
            <a:r>
              <a:t>The stock data comes from yfinance, so there is no market-data API key. The LLM calls use the credentials in the project .env file.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demo1_mcp/01_mcp_demo.ipynb in Jupyter and select the ivado-lab Python 3.12 kernel.</a:t>
            </a:r>
          </a:p>
          <a:p>
            <a:endParaRPr/>
          </a:p>
          <a:p>
            <a:r>
              <a:t>We will go cell by cell. I will not explain every line of Python, only what each cell shows about the protocol.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377440"/>
            <a:ext cx="10972800" cy="1097280"/>
          </a:xfrm>
          <a:prstGeom prst="rect">
            <a:avLst/>
          </a:prstGeom>
          <a:noFill/>
        </p:spPr>
        <p:txBody>
          <a:bodyPr wrap="square" lIns="0" tIns="0" rIns="0" bIns="0" anchor="t">
            <a:spAutoFit/>
          </a:bodyPr>
          <a:lstStyle/>
          <a:p>
            <a:pPr algn="l"/>
            <a:r>
              <a:rPr sz="5400" b="1">
                <a:solidFill>
                  <a:srgbClr val="1A4D8F"/>
                </a:solidFill>
              </a:rPr>
              <a:t>Agent Protocols Hands-on Lab</a:t>
            </a:r>
          </a:p>
        </p:txBody>
      </p:sp>
      <p:sp>
        <p:nvSpPr>
          <p:cNvPr id="3" name="TextBox 2"/>
          <p:cNvSpPr txBox="1"/>
          <p:nvPr/>
        </p:nvSpPr>
        <p:spPr>
          <a:xfrm>
            <a:off x="548640" y="3566160"/>
            <a:ext cx="10972800" cy="731520"/>
          </a:xfrm>
          <a:prstGeom prst="rect">
            <a:avLst/>
          </a:prstGeom>
          <a:noFill/>
        </p:spPr>
        <p:txBody>
          <a:bodyPr wrap="square" lIns="0" tIns="0" rIns="0" bIns="0" anchor="t">
            <a:spAutoFit/>
          </a:bodyPr>
          <a:lstStyle/>
          <a:p>
            <a:pPr algn="l"/>
            <a:r>
              <a:rPr sz="2800" b="0">
                <a:solidFill>
                  <a:srgbClr val="222A33"/>
                </a:solidFill>
              </a:rPr>
              <a:t>MCP · A2A · FA</a:t>
            </a:r>
          </a:p>
        </p:txBody>
      </p:sp>
      <p:sp>
        <p:nvSpPr>
          <p:cNvPr id="4" name="TextBox 3"/>
          <p:cNvSpPr txBox="1"/>
          <p:nvPr/>
        </p:nvSpPr>
        <p:spPr>
          <a:xfrm>
            <a:off x="548640" y="6035040"/>
            <a:ext cx="10972800" cy="457200"/>
          </a:xfrm>
          <a:prstGeom prst="rect">
            <a:avLst/>
          </a:prstGeom>
          <a:noFill/>
        </p:spPr>
        <p:txBody>
          <a:bodyPr wrap="square" lIns="0" tIns="0" rIns="0" bIns="0" anchor="t">
            <a:spAutoFit/>
          </a:bodyPr>
          <a:lstStyle/>
          <a:p>
            <a:pPr algn="l"/>
            <a:r>
              <a:rPr sz="1400" b="0">
                <a:solidFill>
                  <a:srgbClr val="66707A"/>
                </a:solidFill>
              </a:rPr>
              <a:t>IVADO · Statistics Lab Session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square" lIns="0" tIns="0" rIns="0" bIns="0" anchor="t">
            <a:spAutoFit/>
          </a:bodyPr>
          <a:lstStyle/>
          <a:p>
            <a:pPr algn="l"/>
            <a:r>
              <a:rPr sz="3200" b="1">
                <a:solidFill>
                  <a:srgbClr val="1A4D8F"/>
                </a:solidFill>
              </a:rPr>
              <a:t>What is an LLM agent?</a:t>
            </a:r>
          </a:p>
        </p:txBody>
      </p:sp>
      <p:sp>
        <p:nvSpPr>
          <p:cNvPr id="3" name="Rectangle 2"/>
          <p:cNvSpPr/>
          <p:nvPr/>
        </p:nvSpPr>
        <p:spPr>
          <a:xfrm>
            <a:off x="548640" y="960120"/>
            <a:ext cx="11091672" cy="20000"/>
          </a:xfrm>
          <a:prstGeom prst="rect">
            <a:avLst/>
          </a:prstGeom>
          <a:solidFill>
            <a:srgbClr val="1A4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606040"/>
            <a:ext cx="1188720" cy="457200"/>
          </a:xfrm>
          <a:prstGeom prst="rect">
            <a:avLst/>
          </a:prstGeom>
          <a:noFill/>
        </p:spPr>
        <p:txBody>
          <a:bodyPr wrap="square" lIns="0" tIns="0" rIns="0" bIns="0" anchor="ctr">
            <a:spAutoFit/>
          </a:bodyPr>
          <a:lstStyle/>
          <a:p>
            <a:pPr algn="ctr"/>
            <a:r>
              <a:rPr sz="2000" b="0">
                <a:solidFill>
                  <a:srgbClr val="222A33"/>
                </a:solidFill>
              </a:rPr>
              <a:t>user</a:t>
            </a:r>
          </a:p>
        </p:txBody>
      </p:sp>
      <p:cxnSp>
        <p:nvCxnSpPr>
          <p:cNvPr id="5" name="Connector 4"/>
          <p:cNvCxnSpPr/>
          <p:nvPr/>
        </p:nvCxnSpPr>
        <p:spPr>
          <a:xfrm>
            <a:off x="2194560" y="2834640"/>
            <a:ext cx="1188720" cy="0"/>
          </a:xfrm>
          <a:prstGeom prst="bentConnector3">
            <a:avLst/>
          </a:prstGeom>
          <a:ln w="19050">
            <a:solidFill>
              <a:srgbClr val="1A4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383280" y="2286000"/>
            <a:ext cx="3566160" cy="109728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0">
                <a:solidFill>
                  <a:srgbClr val="222A33"/>
                </a:solidFill>
              </a:rPr>
              <a:t>LLM</a:t>
            </a:r>
          </a:p>
          <a:p>
            <a:pPr algn="ctr"/>
            <a:r>
              <a:rPr sz="2000" b="0">
                <a:solidFill>
                  <a:srgbClr val="222A33"/>
                </a:solidFill>
              </a:rPr>
              <a:t>(reason / plan)</a:t>
            </a:r>
          </a:p>
        </p:txBody>
      </p:sp>
      <p:cxnSp>
        <p:nvCxnSpPr>
          <p:cNvPr id="7" name="Connector 6"/>
          <p:cNvCxnSpPr/>
          <p:nvPr/>
        </p:nvCxnSpPr>
        <p:spPr>
          <a:xfrm>
            <a:off x="6949440" y="2834640"/>
            <a:ext cx="1188720" cy="0"/>
          </a:xfrm>
          <a:prstGeom prst="bentConnector3">
            <a:avLst/>
          </a:prstGeom>
          <a:ln w="19050">
            <a:solidFill>
              <a:srgbClr val="1A4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38160" y="2606040"/>
            <a:ext cx="1828800" cy="457200"/>
          </a:xfrm>
          <a:prstGeom prst="rect">
            <a:avLst/>
          </a:prstGeom>
          <a:noFill/>
        </p:spPr>
        <p:txBody>
          <a:bodyPr wrap="square" lIns="0" tIns="0" rIns="0" bIns="0" anchor="ctr">
            <a:spAutoFit/>
          </a:bodyPr>
          <a:lstStyle/>
          <a:p>
            <a:pPr algn="l"/>
            <a:r>
              <a:rPr sz="2000" b="0">
                <a:solidFill>
                  <a:srgbClr val="222A33"/>
                </a:solidFill>
              </a:rPr>
              <a:t>answer</a:t>
            </a:r>
          </a:p>
        </p:txBody>
      </p:sp>
      <p:cxnSp>
        <p:nvCxnSpPr>
          <p:cNvPr id="9" name="Connector 8"/>
          <p:cNvCxnSpPr/>
          <p:nvPr/>
        </p:nvCxnSpPr>
        <p:spPr>
          <a:xfrm>
            <a:off x="5166360" y="3383280"/>
            <a:ext cx="0" cy="914400"/>
          </a:xfrm>
          <a:prstGeom prst="bentConnector3">
            <a:avLst/>
          </a:prstGeom>
          <a:ln w="19050">
            <a:solidFill>
              <a:srgbClr val="1A4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57800" y="3749040"/>
            <a:ext cx="1097280" cy="274320"/>
          </a:xfrm>
          <a:prstGeom prst="rect">
            <a:avLst/>
          </a:prstGeom>
          <a:noFill/>
        </p:spPr>
        <p:txBody>
          <a:bodyPr wrap="square" lIns="0" tIns="0" rIns="0" bIns="0" anchor="t">
            <a:spAutoFit/>
          </a:bodyPr>
          <a:lstStyle/>
          <a:p>
            <a:pPr algn="ctr"/>
            <a:r>
              <a:rPr sz="1400" b="0">
                <a:solidFill>
                  <a:srgbClr val="66707A"/>
                </a:solidFill>
              </a:rPr>
              <a:t>tool_use</a:t>
            </a:r>
          </a:p>
        </p:txBody>
      </p:sp>
      <p:sp>
        <p:nvSpPr>
          <p:cNvPr id="11" name="Rounded Rectangle 10"/>
          <p:cNvSpPr/>
          <p:nvPr/>
        </p:nvSpPr>
        <p:spPr>
          <a:xfrm>
            <a:off x="3383280" y="4297680"/>
            <a:ext cx="3566160" cy="128016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0">
                <a:solidFill>
                  <a:srgbClr val="222A33"/>
                </a:solidFill>
              </a:rPr>
              <a:t>Tools / Data /</a:t>
            </a:r>
          </a:p>
          <a:p>
            <a:pPr algn="ctr"/>
            <a:r>
              <a:rPr sz="2000" b="0">
                <a:solidFill>
                  <a:srgbClr val="222A33"/>
                </a:solidFill>
              </a:rPr>
              <a:t>Other Agents</a:t>
            </a:r>
          </a:p>
        </p:txBody>
      </p:sp>
      <p:sp>
        <p:nvSpPr>
          <p:cNvPr id="12" name="TextBox 11"/>
          <p:cNvSpPr txBox="1"/>
          <p:nvPr/>
        </p:nvSpPr>
        <p:spPr>
          <a:xfrm>
            <a:off x="548640" y="6217920"/>
            <a:ext cx="10972800" cy="502920"/>
          </a:xfrm>
          <a:prstGeom prst="rect">
            <a:avLst/>
          </a:prstGeom>
          <a:noFill/>
        </p:spPr>
        <p:txBody>
          <a:bodyPr wrap="square" lIns="0" tIns="0" rIns="0" bIns="0" anchor="t">
            <a:spAutoFit/>
          </a:bodyPr>
          <a:lstStyle/>
          <a:p>
            <a:pPr algn="ctr"/>
            <a:r>
              <a:rPr sz="2000" b="1">
                <a:solidFill>
                  <a:srgbClr val="1A4D8F"/>
                </a:solidFill>
              </a:rPr>
              <a:t>LLM + tools + state + an autonomous decision loop.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square" lIns="0" tIns="0" rIns="0" bIns="0" anchor="t">
            <a:spAutoFit/>
          </a:bodyPr>
          <a:lstStyle/>
          <a:p>
            <a:pPr algn="l"/>
            <a:r>
              <a:rPr sz="3200" b="1">
                <a:solidFill>
                  <a:srgbClr val="1A4D8F"/>
                </a:solidFill>
              </a:rPr>
              <a:t>Three protocols, three scopes</a:t>
            </a:r>
          </a:p>
        </p:txBody>
      </p:sp>
      <p:sp>
        <p:nvSpPr>
          <p:cNvPr id="3" name="Rectangle 2"/>
          <p:cNvSpPr/>
          <p:nvPr/>
        </p:nvSpPr>
        <p:spPr>
          <a:xfrm>
            <a:off x="548640" y="960120"/>
            <a:ext cx="11091672" cy="20000"/>
          </a:xfrm>
          <a:prstGeom prst="rect">
            <a:avLst/>
          </a:prstGeom>
          <a:solidFill>
            <a:srgbClr val="1A4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48640" y="1645920"/>
          <a:ext cx="10972800" cy="25603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40080">
                <a:tc>
                  <a:txBody>
                    <a:bodyPr/>
                    <a:lstStyle/>
                    <a:p>
                      <a:pPr algn="l"/>
                      <a:r>
                        <a:rPr sz="1800" b="1">
                          <a:solidFill>
                            <a:srgbClr val="FFFFFF"/>
                          </a:solidFill>
                        </a:rPr>
                        <a:t>Protocol</a:t>
                      </a:r>
                    </a:p>
                  </a:txBody>
                  <a:tcPr>
                    <a:solidFill>
                      <a:srgbClr val="1A4D8F"/>
                    </a:solidFill>
                  </a:tcPr>
                </a:tc>
                <a:tc>
                  <a:txBody>
                    <a:bodyPr/>
                    <a:lstStyle/>
                    <a:p>
                      <a:pPr algn="l"/>
                      <a:r>
                        <a:rPr sz="1800" b="1">
                          <a:solidFill>
                            <a:srgbClr val="FFFFFF"/>
                          </a:solidFill>
                        </a:rPr>
                        <a:t>Author</a:t>
                      </a:r>
                    </a:p>
                  </a:txBody>
                  <a:tcPr>
                    <a:solidFill>
                      <a:srgbClr val="1A4D8F"/>
                    </a:solidFill>
                  </a:tcPr>
                </a:tc>
                <a:tc>
                  <a:txBody>
                    <a:bodyPr/>
                    <a:lstStyle/>
                    <a:p>
                      <a:pPr algn="l"/>
                      <a:r>
                        <a:rPr sz="1800" b="1">
                          <a:solidFill>
                            <a:srgbClr val="FFFFFF"/>
                          </a:solidFill>
                        </a:rPr>
                        <a:t>Connects</a:t>
                      </a:r>
                    </a:p>
                  </a:txBody>
                  <a:tcPr>
                    <a:solidFill>
                      <a:srgbClr val="1A4D8F"/>
                    </a:solidFill>
                  </a:tcPr>
                </a:tc>
                <a:extLst>
                  <a:ext uri="{0D108BD9-81ED-4DB2-BD59-A6C34878D82A}">
                    <a16:rowId xmlns:a16="http://schemas.microsoft.com/office/drawing/2014/main" val="10000"/>
                  </a:ext>
                </a:extLst>
              </a:tr>
              <a:tr h="640080">
                <a:tc>
                  <a:txBody>
                    <a:bodyPr/>
                    <a:lstStyle/>
                    <a:p>
                      <a:pPr algn="l"/>
                      <a:r>
                        <a:rPr sz="1800" b="1">
                          <a:solidFill>
                            <a:srgbClr val="222A33"/>
                          </a:solidFill>
                        </a:rPr>
                        <a:t>MCP</a:t>
                      </a:r>
                      <a:r>
                        <a:rPr sz="1800" b="0">
                          <a:solidFill>
                            <a:srgbClr val="222A33"/>
                          </a:solidFill>
                        </a:rPr>
                        <a:t> (Model Context Protocol)</a:t>
                      </a:r>
                    </a:p>
                  </a:txBody>
                  <a:tcPr>
                    <a:solidFill>
                      <a:srgbClr val="FFFFFF"/>
                    </a:solidFill>
                  </a:tcPr>
                </a:tc>
                <a:tc>
                  <a:txBody>
                    <a:bodyPr/>
                    <a:lstStyle/>
                    <a:p>
                      <a:pPr algn="l"/>
                      <a:r>
                        <a:rPr sz="1800" b="0">
                          <a:solidFill>
                            <a:srgbClr val="222A33"/>
                          </a:solidFill>
                        </a:rPr>
                        <a:t>Anthropic</a:t>
                      </a:r>
                    </a:p>
                  </a:txBody>
                  <a:tcPr>
                    <a:solidFill>
                      <a:srgbClr val="FFFFFF"/>
                    </a:solidFill>
                  </a:tcPr>
                </a:tc>
                <a:tc>
                  <a:txBody>
                    <a:bodyPr/>
                    <a:lstStyle/>
                    <a:p>
                      <a:pPr algn="l"/>
                      <a:r>
                        <a:rPr sz="1800" b="0">
                          <a:solidFill>
                            <a:srgbClr val="222A33"/>
                          </a:solidFill>
                        </a:rPr>
                        <a:t>Agent ↔ </a:t>
                      </a:r>
                      <a:r>
                        <a:rPr sz="1800" b="1">
                          <a:solidFill>
                            <a:srgbClr val="222A33"/>
                          </a:solidFill>
                        </a:rPr>
                        <a:t>tools / data</a:t>
                      </a:r>
                    </a:p>
                  </a:txBody>
                  <a:tcPr>
                    <a:solidFill>
                      <a:srgbClr val="FFFFFF"/>
                    </a:solidFill>
                  </a:tcPr>
                </a:tc>
                <a:extLst>
                  <a:ext uri="{0D108BD9-81ED-4DB2-BD59-A6C34878D82A}">
                    <a16:rowId xmlns:a16="http://schemas.microsoft.com/office/drawing/2014/main" val="10001"/>
                  </a:ext>
                </a:extLst>
              </a:tr>
              <a:tr h="640080">
                <a:tc>
                  <a:txBody>
                    <a:bodyPr/>
                    <a:lstStyle/>
                    <a:p>
                      <a:pPr algn="l"/>
                      <a:r>
                        <a:rPr sz="1800" b="1">
                          <a:solidFill>
                            <a:srgbClr val="222A33"/>
                          </a:solidFill>
                        </a:rPr>
                        <a:t>A2A</a:t>
                      </a:r>
                      <a:r>
                        <a:rPr sz="1800" b="0">
                          <a:solidFill>
                            <a:srgbClr val="222A33"/>
                          </a:solidFill>
                        </a:rPr>
                        <a:t> (Agent-to-Agent)</a:t>
                      </a:r>
                    </a:p>
                  </a:txBody>
                  <a:tcPr>
                    <a:solidFill>
                      <a:srgbClr val="F0F4F8"/>
                    </a:solidFill>
                  </a:tcPr>
                </a:tc>
                <a:tc>
                  <a:txBody>
                    <a:bodyPr/>
                    <a:lstStyle/>
                    <a:p>
                      <a:pPr algn="l"/>
                      <a:r>
                        <a:rPr sz="1800" b="0">
                          <a:solidFill>
                            <a:srgbClr val="222A33"/>
                          </a:solidFill>
                        </a:rPr>
                        <a:t>Google</a:t>
                      </a:r>
                    </a:p>
                  </a:txBody>
                  <a:tcPr>
                    <a:solidFill>
                      <a:srgbClr val="F0F4F8"/>
                    </a:solidFill>
                  </a:tcPr>
                </a:tc>
                <a:tc>
                  <a:txBody>
                    <a:bodyPr/>
                    <a:lstStyle/>
                    <a:p>
                      <a:pPr algn="l"/>
                      <a:r>
                        <a:rPr sz="1800" b="0">
                          <a:solidFill>
                            <a:srgbClr val="222A33"/>
                          </a:solidFill>
                        </a:rPr>
                        <a:t>Agent ↔ </a:t>
                      </a:r>
                      <a:r>
                        <a:rPr sz="1800" b="1">
                          <a:solidFill>
                            <a:srgbClr val="222A33"/>
                          </a:solidFill>
                        </a:rPr>
                        <a:t>Agent</a:t>
                      </a:r>
                    </a:p>
                  </a:txBody>
                  <a:tcPr>
                    <a:solidFill>
                      <a:srgbClr val="F0F4F8"/>
                    </a:solidFill>
                  </a:tcPr>
                </a:tc>
                <a:extLst>
                  <a:ext uri="{0D108BD9-81ED-4DB2-BD59-A6C34878D82A}">
                    <a16:rowId xmlns:a16="http://schemas.microsoft.com/office/drawing/2014/main" val="10002"/>
                  </a:ext>
                </a:extLst>
              </a:tr>
              <a:tr h="640080">
                <a:tc>
                  <a:txBody>
                    <a:bodyPr/>
                    <a:lstStyle/>
                    <a:p>
                      <a:pPr algn="l"/>
                      <a:r>
                        <a:rPr sz="1800" b="1">
                          <a:solidFill>
                            <a:srgbClr val="222A33"/>
                          </a:solidFill>
                        </a:rPr>
                        <a:t>FA</a:t>
                      </a:r>
                      <a:r>
                        <a:rPr sz="1800" b="0">
                          <a:solidFill>
                            <a:srgbClr val="222A33"/>
                          </a:solidFill>
                        </a:rPr>
                        <a:t> (Foundation Agents Protocol)</a:t>
                      </a:r>
                    </a:p>
                  </a:txBody>
                  <a:tcPr>
                    <a:solidFill>
                      <a:srgbClr val="FFFFFF"/>
                    </a:solidFill>
                  </a:tcPr>
                </a:tc>
                <a:tc>
                  <a:txBody>
                    <a:bodyPr/>
                    <a:lstStyle/>
                    <a:p>
                      <a:pPr algn="l"/>
                      <a:r>
                        <a:rPr sz="1800" b="0">
                          <a:solidFill>
                            <a:srgbClr val="222A33"/>
                          </a:solidFill>
                        </a:rPr>
                        <a:t>DeepWisdom (collaborator)</a:t>
                      </a:r>
                    </a:p>
                  </a:txBody>
                  <a:tcPr>
                    <a:solidFill>
                      <a:srgbClr val="FFFFFF"/>
                    </a:solidFill>
                  </a:tcPr>
                </a:tc>
                <a:tc>
                  <a:txBody>
                    <a:bodyPr/>
                    <a:lstStyle/>
                    <a:p>
                      <a:pPr algn="l"/>
                      <a:r>
                        <a:rPr sz="1800" b="1">
                          <a:solidFill>
                            <a:srgbClr val="222A33"/>
                          </a:solidFill>
                        </a:rPr>
                        <a:t>Humans / Agents / Tools / Services</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4937760"/>
            <a:ext cx="10972800" cy="1371600"/>
          </a:xfrm>
          <a:prstGeom prst="rect">
            <a:avLst/>
          </a:prstGeom>
          <a:noFill/>
        </p:spPr>
        <p:txBody>
          <a:bodyPr wrap="square" lIns="0" tIns="0" rIns="0" bIns="0" anchor="t">
            <a:spAutoFit/>
          </a:bodyPr>
          <a:lstStyle/>
          <a:p>
            <a:pPr algn="l"/>
            <a:r>
              <a:rPr sz="2000" b="0">
                <a:solidFill>
                  <a:srgbClr val="222A33"/>
                </a:solidFill>
              </a:rPr>
              <a:t>Each one tackles a broader scope than the last.
We'll see what each can do that the previous cannot.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square" lIns="0" tIns="0" rIns="0" bIns="0" anchor="t">
            <a:spAutoFit/>
          </a:bodyPr>
          <a:lstStyle/>
          <a:p>
            <a:pPr algn="l"/>
            <a:r>
              <a:rPr sz="3200" b="1">
                <a:solidFill>
                  <a:srgbClr val="1A4D8F"/>
                </a:solidFill>
              </a:rPr>
              <a:t>MCP — agent to tools</a:t>
            </a:r>
          </a:p>
        </p:txBody>
      </p:sp>
      <p:sp>
        <p:nvSpPr>
          <p:cNvPr id="3" name="Rectangle 2"/>
          <p:cNvSpPr/>
          <p:nvPr/>
        </p:nvSpPr>
        <p:spPr>
          <a:xfrm>
            <a:off x="548640" y="960120"/>
            <a:ext cx="11091672" cy="20000"/>
          </a:xfrm>
          <a:prstGeom prst="rect">
            <a:avLst/>
          </a:prstGeom>
          <a:solidFill>
            <a:srgbClr val="1A4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371600" y="1554480"/>
            <a:ext cx="3108960" cy="118872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22A33"/>
                </a:solidFill>
              </a:rPr>
              <a:t>Host</a:t>
            </a:r>
          </a:p>
          <a:p>
            <a:pPr algn="ctr"/>
            <a:r>
              <a:rPr sz="1600" b="0">
                <a:solidFill>
                  <a:srgbClr val="222A33"/>
                </a:solidFill>
              </a:rPr>
              <a:t>(Claude / Cursor / IDE)</a:t>
            </a:r>
          </a:p>
        </p:txBody>
      </p:sp>
      <p:sp>
        <p:nvSpPr>
          <p:cNvPr id="5" name="Rounded Rectangle 4"/>
          <p:cNvSpPr/>
          <p:nvPr/>
        </p:nvSpPr>
        <p:spPr>
          <a:xfrm>
            <a:off x="7680960" y="1554480"/>
            <a:ext cx="3108960" cy="118872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22A33"/>
                </a:solidFill>
              </a:rPr>
              <a:t>MCP Server</a:t>
            </a:r>
          </a:p>
          <a:p>
            <a:pPr algn="ctr"/>
            <a:r>
              <a:rPr sz="1600" b="0">
                <a:solidFill>
                  <a:srgbClr val="222A33"/>
                </a:solidFill>
              </a:rPr>
              <a:t>(your tools)</a:t>
            </a:r>
          </a:p>
        </p:txBody>
      </p:sp>
      <p:cxnSp>
        <p:nvCxnSpPr>
          <p:cNvPr id="6" name="Connector 5"/>
          <p:cNvCxnSpPr/>
          <p:nvPr/>
        </p:nvCxnSpPr>
        <p:spPr>
          <a:xfrm>
            <a:off x="4480560" y="2057400"/>
            <a:ext cx="3200400" cy="0"/>
          </a:xfrm>
          <a:prstGeom prst="bentConnector3">
            <a:avLst/>
          </a:prstGeom>
          <a:ln w="19050">
            <a:solidFill>
              <a:srgbClr val="1A4D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4480560" y="2240280"/>
            <a:ext cx="3200400" cy="0"/>
          </a:xfrm>
          <a:prstGeom prst="bentConnector3">
            <a:avLst/>
          </a:prstGeom>
          <a:ln w="19050">
            <a:solidFill>
              <a:srgbClr val="1A4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480560" y="1280160"/>
            <a:ext cx="3200400" cy="365760"/>
          </a:xfrm>
          <a:prstGeom prst="rect">
            <a:avLst/>
          </a:prstGeom>
          <a:noFill/>
        </p:spPr>
        <p:txBody>
          <a:bodyPr wrap="square" lIns="0" tIns="0" rIns="0" bIns="0" anchor="t">
            <a:spAutoFit/>
          </a:bodyPr>
          <a:lstStyle/>
          <a:p>
            <a:pPr algn="ctr"/>
            <a:r>
              <a:rPr sz="1400" b="0">
                <a:solidFill>
                  <a:srgbClr val="66707A"/>
                </a:solidFill>
              </a:rPr>
              <a:t>JSON-RPC over stdio / HTTP</a:t>
            </a:r>
          </a:p>
        </p:txBody>
      </p:sp>
      <p:sp>
        <p:nvSpPr>
          <p:cNvPr id="9" name="TextBox 8"/>
          <p:cNvSpPr txBox="1"/>
          <p:nvPr/>
        </p:nvSpPr>
        <p:spPr>
          <a:xfrm>
            <a:off x="640080" y="3977639"/>
            <a:ext cx="4572000" cy="365760"/>
          </a:xfrm>
          <a:prstGeom prst="rect">
            <a:avLst/>
          </a:prstGeom>
          <a:noFill/>
        </p:spPr>
        <p:txBody>
          <a:bodyPr wrap="square" lIns="0" tIns="0" rIns="0" bIns="0" anchor="t">
            <a:spAutoFit/>
          </a:bodyPr>
          <a:lstStyle/>
          <a:p>
            <a:pPr algn="l"/>
            <a:r>
              <a:rPr sz="1600" b="1">
                <a:solidFill>
                  <a:srgbClr val="1A4D8F"/>
                </a:solidFill>
              </a:rPr>
              <a:t>A server exposes …</a:t>
            </a:r>
          </a:p>
        </p:txBody>
      </p:sp>
      <p:sp>
        <p:nvSpPr>
          <p:cNvPr id="10" name="TextBox 9"/>
          <p:cNvSpPr txBox="1"/>
          <p:nvPr/>
        </p:nvSpPr>
        <p:spPr>
          <a:xfrm>
            <a:off x="6400800" y="3977639"/>
            <a:ext cx="4572000" cy="365760"/>
          </a:xfrm>
          <a:prstGeom prst="rect">
            <a:avLst/>
          </a:prstGeom>
          <a:noFill/>
        </p:spPr>
        <p:txBody>
          <a:bodyPr wrap="square" lIns="0" tIns="0" rIns="0" bIns="0" anchor="t">
            <a:spAutoFit/>
          </a:bodyPr>
          <a:lstStyle/>
          <a:p>
            <a:pPr algn="l"/>
            <a:r>
              <a:rPr sz="1600" b="1">
                <a:solidFill>
                  <a:srgbClr val="1A4D8F"/>
                </a:solidFill>
              </a:rPr>
              <a:t>Use it when …</a:t>
            </a:r>
          </a:p>
        </p:txBody>
      </p:sp>
      <p:sp>
        <p:nvSpPr>
          <p:cNvPr id="11" name="TextBox 10"/>
          <p:cNvSpPr txBox="1"/>
          <p:nvPr/>
        </p:nvSpPr>
        <p:spPr>
          <a:xfrm>
            <a:off x="640080" y="4434840"/>
            <a:ext cx="5486400" cy="1554480"/>
          </a:xfrm>
          <a:prstGeom prst="rect">
            <a:avLst/>
          </a:prstGeom>
          <a:noFill/>
        </p:spPr>
        <p:txBody>
          <a:bodyPr wrap="square" lIns="0" tIns="0" rIns="0" bIns="0">
            <a:spAutoFit/>
          </a:bodyPr>
          <a:lstStyle/>
          <a:p>
            <a:pPr algn="l">
              <a:spcAft>
                <a:spcPts val="600"/>
              </a:spcAft>
            </a:pPr>
            <a:r>
              <a:rPr sz="1600" b="0">
                <a:solidFill>
                  <a:srgbClr val="222A33"/>
                </a:solidFill>
              </a:rPr>
              <a:t>• </a:t>
            </a:r>
            <a:r>
              <a:rPr sz="1600" b="1">
                <a:solidFill>
                  <a:srgbClr val="222A33"/>
                </a:solidFill>
              </a:rPr>
              <a:t>Tools</a:t>
            </a:r>
            <a:r>
              <a:rPr sz="1600" b="0">
                <a:solidFill>
                  <a:srgbClr val="222A33"/>
                </a:solidFill>
              </a:rPr>
              <a:t> — functions the LLM can call</a:t>
            </a:r>
          </a:p>
          <a:p>
            <a:pPr algn="l">
              <a:spcAft>
                <a:spcPts val="600"/>
              </a:spcAft>
            </a:pPr>
            <a:r>
              <a:rPr sz="1600" b="0">
                <a:solidFill>
                  <a:srgbClr val="222A33"/>
                </a:solidFill>
              </a:rPr>
              <a:t>• </a:t>
            </a:r>
            <a:r>
              <a:rPr sz="1600" b="1">
                <a:solidFill>
                  <a:srgbClr val="222A33"/>
                </a:solidFill>
              </a:rPr>
              <a:t>Resources</a:t>
            </a:r>
            <a:r>
              <a:rPr sz="1600" b="0">
                <a:solidFill>
                  <a:srgbClr val="222A33"/>
                </a:solidFill>
              </a:rPr>
              <a:t> — data the LLM can read</a:t>
            </a:r>
          </a:p>
          <a:p>
            <a:pPr algn="l">
              <a:spcAft>
                <a:spcPts val="600"/>
              </a:spcAft>
            </a:pPr>
            <a:r>
              <a:rPr sz="1600" b="0">
                <a:solidFill>
                  <a:srgbClr val="222A33"/>
                </a:solidFill>
              </a:rPr>
              <a:t>• </a:t>
            </a:r>
            <a:r>
              <a:rPr sz="1600" b="1">
                <a:solidFill>
                  <a:srgbClr val="222A33"/>
                </a:solidFill>
              </a:rPr>
              <a:t>Prompts</a:t>
            </a:r>
            <a:r>
              <a:rPr sz="1600" b="0">
                <a:solidFill>
                  <a:srgbClr val="222A33"/>
                </a:solidFill>
              </a:rPr>
              <a:t> — server-side templates</a:t>
            </a:r>
          </a:p>
        </p:txBody>
      </p:sp>
      <p:sp>
        <p:nvSpPr>
          <p:cNvPr id="12" name="TextBox 11"/>
          <p:cNvSpPr txBox="1"/>
          <p:nvPr/>
        </p:nvSpPr>
        <p:spPr>
          <a:xfrm>
            <a:off x="6400800" y="4434840"/>
            <a:ext cx="5486400" cy="1554480"/>
          </a:xfrm>
          <a:prstGeom prst="rect">
            <a:avLst/>
          </a:prstGeom>
          <a:noFill/>
        </p:spPr>
        <p:txBody>
          <a:bodyPr wrap="square" lIns="0" tIns="0" rIns="0" bIns="0">
            <a:spAutoFit/>
          </a:bodyPr>
          <a:lstStyle/>
          <a:p>
            <a:pPr algn="l">
              <a:spcAft>
                <a:spcPts val="600"/>
              </a:spcAft>
            </a:pPr>
            <a:r>
              <a:rPr sz="1600">
                <a:solidFill>
                  <a:srgbClr val="222A33"/>
                </a:solidFill>
              </a:rPr>
              <a:t>• An LLM should reach a database, an R script, an internal API</a:t>
            </a:r>
          </a:p>
          <a:p>
            <a:pPr algn="l">
              <a:spcAft>
                <a:spcPts val="600"/>
              </a:spcAft>
            </a:pPr>
            <a:r>
              <a:rPr sz="1600">
                <a:solidFill>
                  <a:srgbClr val="222A33"/>
                </a:solidFill>
              </a:rPr>
              <a:t>• One tool should be reusable across Claude Desktop, Cursor, your Jupyter</a:t>
            </a:r>
          </a:p>
          <a:p>
            <a:pPr algn="l">
              <a:spcAft>
                <a:spcPts val="600"/>
              </a:spcAft>
            </a:pPr>
            <a:r>
              <a:rPr sz="1600">
                <a:solidFill>
                  <a:srgbClr val="222A33"/>
                </a:solidFill>
              </a:rPr>
              <a:t>• You want type-safe schemas auto-generated from your code</a:t>
            </a:r>
          </a:p>
        </p:txBody>
      </p:sp>
      <p:sp>
        <p:nvSpPr>
          <p:cNvPr id="13" name="TextBox 12"/>
          <p:cNvSpPr txBox="1"/>
          <p:nvPr/>
        </p:nvSpPr>
        <p:spPr>
          <a:xfrm>
            <a:off x="548640" y="6217920"/>
            <a:ext cx="10972800" cy="502920"/>
          </a:xfrm>
          <a:prstGeom prst="rect">
            <a:avLst/>
          </a:prstGeom>
          <a:noFill/>
        </p:spPr>
        <p:txBody>
          <a:bodyPr wrap="square" lIns="0" tIns="0" rIns="0" bIns="0" anchor="t">
            <a:spAutoFit/>
          </a:bodyPr>
          <a:lstStyle/>
          <a:p>
            <a:pPr algn="ctr"/>
            <a:r>
              <a:rPr sz="2000" b="1">
                <a:solidFill>
                  <a:srgbClr val="1A4D8F"/>
                </a:solidFill>
              </a:rPr>
              <a:t>Mental model: MCP is the calculator's keypad.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square" lIns="0" tIns="0" rIns="0" bIns="0" anchor="t">
            <a:spAutoFit/>
          </a:bodyPr>
          <a:lstStyle/>
          <a:p>
            <a:pPr algn="l"/>
            <a:r>
              <a:rPr sz="3200" b="1">
                <a:solidFill>
                  <a:srgbClr val="1A4D8F"/>
                </a:solidFill>
              </a:rPr>
              <a:t>A2A — agent to agent</a:t>
            </a:r>
          </a:p>
        </p:txBody>
      </p:sp>
      <p:sp>
        <p:nvSpPr>
          <p:cNvPr id="3" name="Rectangle 2"/>
          <p:cNvSpPr/>
          <p:nvPr/>
        </p:nvSpPr>
        <p:spPr>
          <a:xfrm>
            <a:off x="548640" y="960120"/>
            <a:ext cx="11091672" cy="20000"/>
          </a:xfrm>
          <a:prstGeom prst="rect">
            <a:avLst/>
          </a:prstGeom>
          <a:solidFill>
            <a:srgbClr val="1A4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371600" y="1554480"/>
            <a:ext cx="3108960" cy="118872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22A33"/>
                </a:solidFill>
              </a:rPr>
              <a:t>Agent A</a:t>
            </a:r>
          </a:p>
          <a:p>
            <a:pPr algn="ctr"/>
            <a:r>
              <a:rPr sz="1600" b="0">
                <a:solidFill>
                  <a:srgbClr val="222A33"/>
                </a:solidFill>
              </a:rPr>
              <a:t>(caller)</a:t>
            </a:r>
          </a:p>
        </p:txBody>
      </p:sp>
      <p:sp>
        <p:nvSpPr>
          <p:cNvPr id="5" name="Rounded Rectangle 4"/>
          <p:cNvSpPr/>
          <p:nvPr/>
        </p:nvSpPr>
        <p:spPr>
          <a:xfrm>
            <a:off x="7680960" y="1554480"/>
            <a:ext cx="3108960" cy="118872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22A33"/>
                </a:solidFill>
              </a:rPr>
              <a:t>Agent B</a:t>
            </a:r>
          </a:p>
          <a:p>
            <a:pPr algn="ctr"/>
            <a:r>
              <a:rPr sz="1600" b="0">
                <a:solidFill>
                  <a:srgbClr val="222A33"/>
                </a:solidFill>
              </a:rPr>
              <a:t>(analyst)</a:t>
            </a:r>
          </a:p>
        </p:txBody>
      </p:sp>
      <p:cxnSp>
        <p:nvCxnSpPr>
          <p:cNvPr id="6" name="Connector 5"/>
          <p:cNvCxnSpPr/>
          <p:nvPr/>
        </p:nvCxnSpPr>
        <p:spPr>
          <a:xfrm>
            <a:off x="4480560" y="2057400"/>
            <a:ext cx="3200400" cy="0"/>
          </a:xfrm>
          <a:prstGeom prst="bentConnector3">
            <a:avLst/>
          </a:prstGeom>
          <a:ln w="19050">
            <a:solidFill>
              <a:srgbClr val="1A4D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4480560" y="2240280"/>
            <a:ext cx="3200400" cy="0"/>
          </a:xfrm>
          <a:prstGeom prst="bentConnector3">
            <a:avLst/>
          </a:prstGeom>
          <a:ln w="19050">
            <a:solidFill>
              <a:srgbClr val="1A4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480560" y="1280160"/>
            <a:ext cx="3200400" cy="365760"/>
          </a:xfrm>
          <a:prstGeom prst="rect">
            <a:avLst/>
          </a:prstGeom>
          <a:noFill/>
        </p:spPr>
        <p:txBody>
          <a:bodyPr wrap="square" lIns="0" tIns="0" rIns="0" bIns="0" anchor="t">
            <a:spAutoFit/>
          </a:bodyPr>
          <a:lstStyle/>
          <a:p>
            <a:pPr algn="ctr"/>
            <a:r>
              <a:rPr sz="1400" b="0">
                <a:solidFill>
                  <a:srgbClr val="66707A"/>
                </a:solidFill>
              </a:rPr>
              <a:t>HTTP + JSON-RPC</a:t>
            </a:r>
          </a:p>
        </p:txBody>
      </p:sp>
      <p:sp>
        <p:nvSpPr>
          <p:cNvPr id="9" name="TextBox 8"/>
          <p:cNvSpPr txBox="1"/>
          <p:nvPr/>
        </p:nvSpPr>
        <p:spPr>
          <a:xfrm>
            <a:off x="1371600" y="2880360"/>
            <a:ext cx="9418320" cy="365760"/>
          </a:xfrm>
          <a:prstGeom prst="rect">
            <a:avLst/>
          </a:prstGeom>
          <a:noFill/>
        </p:spPr>
        <p:txBody>
          <a:bodyPr wrap="square" lIns="0" tIns="0" rIns="0" bIns="0" anchor="t">
            <a:spAutoFit/>
          </a:bodyPr>
          <a:lstStyle/>
          <a:p>
            <a:pPr algn="ctr"/>
            <a:r>
              <a:rPr sz="1300" b="0">
                <a:solidFill>
                  <a:srgbClr val="66707A"/>
                </a:solidFill>
              </a:rPr>
              <a:t>Each agent serves /.well-known/agent-card.json</a:t>
            </a:r>
          </a:p>
        </p:txBody>
      </p:sp>
      <p:sp>
        <p:nvSpPr>
          <p:cNvPr id="10" name="TextBox 9"/>
          <p:cNvSpPr txBox="1"/>
          <p:nvPr/>
        </p:nvSpPr>
        <p:spPr>
          <a:xfrm>
            <a:off x="640080" y="3977639"/>
            <a:ext cx="4572000" cy="365760"/>
          </a:xfrm>
          <a:prstGeom prst="rect">
            <a:avLst/>
          </a:prstGeom>
          <a:noFill/>
        </p:spPr>
        <p:txBody>
          <a:bodyPr wrap="square" lIns="0" tIns="0" rIns="0" bIns="0" anchor="t">
            <a:spAutoFit/>
          </a:bodyPr>
          <a:lstStyle/>
          <a:p>
            <a:pPr algn="l"/>
            <a:r>
              <a:rPr sz="1600" b="1">
                <a:solidFill>
                  <a:srgbClr val="1A4D8F"/>
                </a:solidFill>
              </a:rPr>
              <a:t>Three core concepts</a:t>
            </a:r>
          </a:p>
        </p:txBody>
      </p:sp>
      <p:sp>
        <p:nvSpPr>
          <p:cNvPr id="11" name="TextBox 10"/>
          <p:cNvSpPr txBox="1"/>
          <p:nvPr/>
        </p:nvSpPr>
        <p:spPr>
          <a:xfrm>
            <a:off x="6400800" y="3977639"/>
            <a:ext cx="4572000" cy="365760"/>
          </a:xfrm>
          <a:prstGeom prst="rect">
            <a:avLst/>
          </a:prstGeom>
          <a:noFill/>
        </p:spPr>
        <p:txBody>
          <a:bodyPr wrap="square" lIns="0" tIns="0" rIns="0" bIns="0" anchor="t">
            <a:spAutoFit/>
          </a:bodyPr>
          <a:lstStyle/>
          <a:p>
            <a:pPr algn="l"/>
            <a:r>
              <a:rPr sz="1600" b="1">
                <a:solidFill>
                  <a:srgbClr val="1A4D8F"/>
                </a:solidFill>
              </a:rPr>
              <a:t>Use it when …</a:t>
            </a:r>
          </a:p>
        </p:txBody>
      </p:sp>
      <p:sp>
        <p:nvSpPr>
          <p:cNvPr id="12" name="TextBox 11"/>
          <p:cNvSpPr txBox="1"/>
          <p:nvPr/>
        </p:nvSpPr>
        <p:spPr>
          <a:xfrm>
            <a:off x="640080" y="4434840"/>
            <a:ext cx="5486400" cy="1554480"/>
          </a:xfrm>
          <a:prstGeom prst="rect">
            <a:avLst/>
          </a:prstGeom>
          <a:noFill/>
        </p:spPr>
        <p:txBody>
          <a:bodyPr wrap="square" lIns="0" tIns="0" rIns="0" bIns="0">
            <a:spAutoFit/>
          </a:bodyPr>
          <a:lstStyle/>
          <a:p>
            <a:pPr algn="l">
              <a:spcAft>
                <a:spcPts val="600"/>
              </a:spcAft>
            </a:pPr>
            <a:r>
              <a:rPr sz="1600" b="0">
                <a:solidFill>
                  <a:srgbClr val="222A33"/>
                </a:solidFill>
              </a:rPr>
              <a:t>• </a:t>
            </a:r>
            <a:r>
              <a:rPr sz="1600" b="1">
                <a:solidFill>
                  <a:srgbClr val="222A33"/>
                </a:solidFill>
              </a:rPr>
              <a:t>Agent Card</a:t>
            </a:r>
            <a:r>
              <a:rPr sz="1600" b="0">
                <a:solidFill>
                  <a:srgbClr val="222A33"/>
                </a:solidFill>
              </a:rPr>
              <a:t> — self-description at a well-known URL</a:t>
            </a:r>
          </a:p>
          <a:p>
            <a:pPr algn="l">
              <a:spcAft>
                <a:spcPts val="600"/>
              </a:spcAft>
            </a:pPr>
            <a:r>
              <a:rPr sz="1600" b="0">
                <a:solidFill>
                  <a:srgbClr val="222A33"/>
                </a:solidFill>
              </a:rPr>
              <a:t>• </a:t>
            </a:r>
            <a:r>
              <a:rPr sz="1600" b="1">
                <a:solidFill>
                  <a:srgbClr val="222A33"/>
                </a:solidFill>
              </a:rPr>
              <a:t>Task</a:t>
            </a:r>
            <a:r>
              <a:rPr sz="1600" b="0">
                <a:solidFill>
                  <a:srgbClr val="222A33"/>
                </a:solidFill>
              </a:rPr>
              <a:t> — work unit with a lifecycle (submitted → working → completed)</a:t>
            </a:r>
          </a:p>
          <a:p>
            <a:pPr algn="l">
              <a:spcAft>
                <a:spcPts val="600"/>
              </a:spcAft>
            </a:pPr>
            <a:r>
              <a:rPr sz="1600" b="0">
                <a:solidFill>
                  <a:srgbClr val="222A33"/>
                </a:solidFill>
              </a:rPr>
              <a:t>• </a:t>
            </a:r>
            <a:r>
              <a:rPr sz="1600" b="1">
                <a:solidFill>
                  <a:srgbClr val="222A33"/>
                </a:solidFill>
              </a:rPr>
              <a:t>Message / Artifact</a:t>
            </a:r>
            <a:r>
              <a:rPr sz="1600" b="0">
                <a:solidFill>
                  <a:srgbClr val="222A33"/>
                </a:solidFill>
              </a:rPr>
              <a:t> — input / output</a:t>
            </a:r>
          </a:p>
        </p:txBody>
      </p:sp>
      <p:sp>
        <p:nvSpPr>
          <p:cNvPr id="13" name="TextBox 12"/>
          <p:cNvSpPr txBox="1"/>
          <p:nvPr/>
        </p:nvSpPr>
        <p:spPr>
          <a:xfrm>
            <a:off x="6400800" y="4434840"/>
            <a:ext cx="5486400" cy="1554480"/>
          </a:xfrm>
          <a:prstGeom prst="rect">
            <a:avLst/>
          </a:prstGeom>
          <a:noFill/>
        </p:spPr>
        <p:txBody>
          <a:bodyPr wrap="square" lIns="0" tIns="0" rIns="0" bIns="0">
            <a:spAutoFit/>
          </a:bodyPr>
          <a:lstStyle/>
          <a:p>
            <a:pPr algn="l">
              <a:spcAft>
                <a:spcPts val="600"/>
              </a:spcAft>
            </a:pPr>
            <a:r>
              <a:rPr sz="1600">
                <a:solidFill>
                  <a:srgbClr val="222A33"/>
                </a:solidFill>
              </a:rPr>
              <a:t>• The callee should plan and reason on its own</a:t>
            </a:r>
          </a:p>
          <a:p>
            <a:pPr algn="l">
              <a:spcAft>
                <a:spcPts val="600"/>
              </a:spcAft>
            </a:pPr>
            <a:r>
              <a:rPr sz="1600">
                <a:solidFill>
                  <a:srgbClr val="222A33"/>
                </a:solidFill>
              </a:rPr>
              <a:t>• Work is async / long-running — you want a task ID, not a blocking call</a:t>
            </a:r>
          </a:p>
          <a:p>
            <a:pPr algn="l">
              <a:spcAft>
                <a:spcPts val="600"/>
              </a:spcAft>
            </a:pPr>
            <a:r>
              <a:rPr sz="1600">
                <a:solidFill>
                  <a:srgbClr val="222A33"/>
                </a:solidFill>
              </a:rPr>
              <a:t>• Different teams or organizations own caller and callee</a:t>
            </a:r>
          </a:p>
        </p:txBody>
      </p:sp>
      <p:sp>
        <p:nvSpPr>
          <p:cNvPr id="14" name="TextBox 13"/>
          <p:cNvSpPr txBox="1"/>
          <p:nvPr/>
        </p:nvSpPr>
        <p:spPr>
          <a:xfrm>
            <a:off x="548640" y="6217920"/>
            <a:ext cx="10972800" cy="502920"/>
          </a:xfrm>
          <a:prstGeom prst="rect">
            <a:avLst/>
          </a:prstGeom>
          <a:noFill/>
        </p:spPr>
        <p:txBody>
          <a:bodyPr wrap="square" lIns="0" tIns="0" rIns="0" bIns="0" anchor="t">
            <a:spAutoFit/>
          </a:bodyPr>
          <a:lstStyle/>
          <a:p>
            <a:pPr algn="ctr"/>
            <a:r>
              <a:rPr sz="2000" b="1">
                <a:solidFill>
                  <a:srgbClr val="1A4D8F"/>
                </a:solidFill>
              </a:rPr>
              <a:t>Mental model: A2A is a phone call to a colleague.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square" lIns="0" tIns="0" rIns="0" bIns="0" anchor="t">
            <a:spAutoFit/>
          </a:bodyPr>
          <a:lstStyle/>
          <a:p>
            <a:pPr algn="l"/>
            <a:r>
              <a:rPr sz="3200" b="1">
                <a:solidFill>
                  <a:srgbClr val="1A4D8F"/>
                </a:solidFill>
              </a:rPr>
              <a:t>FA — humans, agents, tools, services</a:t>
            </a:r>
          </a:p>
        </p:txBody>
      </p:sp>
      <p:sp>
        <p:nvSpPr>
          <p:cNvPr id="3" name="Rectangle 2"/>
          <p:cNvSpPr/>
          <p:nvPr/>
        </p:nvSpPr>
        <p:spPr>
          <a:xfrm>
            <a:off x="548640" y="960120"/>
            <a:ext cx="11091672" cy="20000"/>
          </a:xfrm>
          <a:prstGeom prst="rect">
            <a:avLst/>
          </a:prstGeom>
          <a:solidFill>
            <a:srgbClr val="1A4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0" y="1417320"/>
            <a:ext cx="2194560" cy="64008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22A33"/>
                </a:solidFill>
              </a:rPr>
              <a:t>CloudHost (relay)</a:t>
            </a:r>
          </a:p>
        </p:txBody>
      </p:sp>
      <p:sp>
        <p:nvSpPr>
          <p:cNvPr id="5" name="Rounded Rectangle 4"/>
          <p:cNvSpPr/>
          <p:nvPr/>
        </p:nvSpPr>
        <p:spPr>
          <a:xfrm>
            <a:off x="1828800" y="2697480"/>
            <a:ext cx="3291840" cy="77724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22A33"/>
                </a:solidFill>
              </a:rPr>
              <a:t>HostA · alice, EquityAnalyst</a:t>
            </a:r>
          </a:p>
        </p:txBody>
      </p:sp>
      <p:sp>
        <p:nvSpPr>
          <p:cNvPr id="6" name="Rounded Rectangle 5"/>
          <p:cNvSpPr/>
          <p:nvPr/>
        </p:nvSpPr>
        <p:spPr>
          <a:xfrm>
            <a:off x="6949440" y="2697480"/>
            <a:ext cx="3291840" cy="777240"/>
          </a:xfrm>
          <a:prstGeom prst="roundRect">
            <a:avLst/>
          </a:prstGeom>
          <a:solidFill>
            <a:srgbClr val="F0F4F8"/>
          </a:solidFill>
          <a:ln w="15875">
            <a:solidFill>
              <a:srgbClr val="1A4D8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22A33"/>
                </a:solidFill>
              </a:rPr>
              <a:t>HostB · MacroAnalyst</a:t>
            </a:r>
          </a:p>
        </p:txBody>
      </p:sp>
      <p:cxnSp>
        <p:nvCxnSpPr>
          <p:cNvPr id="7" name="Connector 6"/>
          <p:cNvCxnSpPr/>
          <p:nvPr/>
        </p:nvCxnSpPr>
        <p:spPr>
          <a:xfrm flipH="1">
            <a:off x="3474720" y="2057400"/>
            <a:ext cx="2103120" cy="640080"/>
          </a:xfrm>
          <a:prstGeom prst="bentConnector3">
            <a:avLst/>
          </a:prstGeom>
          <a:ln w="19050">
            <a:solidFill>
              <a:srgbClr val="1A4D8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75120" y="2057400"/>
            <a:ext cx="1920240" cy="640080"/>
          </a:xfrm>
          <a:prstGeom prst="bentConnector3">
            <a:avLst/>
          </a:prstGeom>
          <a:ln w="19050">
            <a:solidFill>
              <a:srgbClr val="1A4D8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383280" y="2286000"/>
            <a:ext cx="1371600" cy="274320"/>
          </a:xfrm>
          <a:prstGeom prst="rect">
            <a:avLst/>
          </a:prstGeom>
          <a:noFill/>
        </p:spPr>
        <p:txBody>
          <a:bodyPr wrap="square" lIns="0" tIns="0" rIns="0" bIns="0" anchor="t">
            <a:spAutoFit/>
          </a:bodyPr>
          <a:lstStyle/>
          <a:p>
            <a:pPr algn="ctr"/>
            <a:r>
              <a:rPr sz="1100" b="0">
                <a:solidFill>
                  <a:srgbClr val="66707A"/>
                </a:solidFill>
              </a:rPr>
              <a:t>parent</a:t>
            </a:r>
          </a:p>
        </p:txBody>
      </p:sp>
      <p:sp>
        <p:nvSpPr>
          <p:cNvPr id="10" name="TextBox 9"/>
          <p:cNvSpPr txBox="1"/>
          <p:nvPr/>
        </p:nvSpPr>
        <p:spPr>
          <a:xfrm>
            <a:off x="7406640" y="2286000"/>
            <a:ext cx="1371600" cy="274320"/>
          </a:xfrm>
          <a:prstGeom prst="rect">
            <a:avLst/>
          </a:prstGeom>
          <a:noFill/>
        </p:spPr>
        <p:txBody>
          <a:bodyPr wrap="square" lIns="0" tIns="0" rIns="0" bIns="0" anchor="t">
            <a:spAutoFit/>
          </a:bodyPr>
          <a:lstStyle/>
          <a:p>
            <a:pPr algn="ctr"/>
            <a:r>
              <a:rPr sz="1100" b="0">
                <a:solidFill>
                  <a:srgbClr val="66707A"/>
                </a:solidFill>
              </a:rPr>
              <a:t>parent</a:t>
            </a:r>
          </a:p>
        </p:txBody>
      </p:sp>
      <p:sp>
        <p:nvSpPr>
          <p:cNvPr id="11" name="TextBox 10"/>
          <p:cNvSpPr txBox="1"/>
          <p:nvPr/>
        </p:nvSpPr>
        <p:spPr>
          <a:xfrm>
            <a:off x="640080" y="3977639"/>
            <a:ext cx="4572000" cy="365760"/>
          </a:xfrm>
          <a:prstGeom prst="rect">
            <a:avLst/>
          </a:prstGeom>
          <a:noFill/>
        </p:spPr>
        <p:txBody>
          <a:bodyPr wrap="square" lIns="0" tIns="0" rIns="0" bIns="0" anchor="t">
            <a:spAutoFit/>
          </a:bodyPr>
          <a:lstStyle/>
          <a:p>
            <a:pPr algn="l"/>
            <a:r>
              <a:rPr sz="1600" b="1">
                <a:solidFill>
                  <a:srgbClr val="1A4D8F"/>
                </a:solidFill>
              </a:rPr>
              <a:t>What FA adds</a:t>
            </a:r>
          </a:p>
        </p:txBody>
      </p:sp>
      <p:sp>
        <p:nvSpPr>
          <p:cNvPr id="12" name="TextBox 11"/>
          <p:cNvSpPr txBox="1"/>
          <p:nvPr/>
        </p:nvSpPr>
        <p:spPr>
          <a:xfrm>
            <a:off x="6400800" y="3977639"/>
            <a:ext cx="4572000" cy="365760"/>
          </a:xfrm>
          <a:prstGeom prst="rect">
            <a:avLst/>
          </a:prstGeom>
          <a:noFill/>
        </p:spPr>
        <p:txBody>
          <a:bodyPr wrap="square" lIns="0" tIns="0" rIns="0" bIns="0" anchor="t">
            <a:spAutoFit/>
          </a:bodyPr>
          <a:lstStyle/>
          <a:p>
            <a:pPr algn="l"/>
            <a:r>
              <a:rPr sz="1600" b="1">
                <a:solidFill>
                  <a:srgbClr val="1A4D8F"/>
                </a:solidFill>
              </a:rPr>
              <a:t>Use it when …</a:t>
            </a:r>
          </a:p>
        </p:txBody>
      </p:sp>
      <p:sp>
        <p:nvSpPr>
          <p:cNvPr id="13" name="TextBox 12"/>
          <p:cNvSpPr txBox="1"/>
          <p:nvPr/>
        </p:nvSpPr>
        <p:spPr>
          <a:xfrm>
            <a:off x="640080" y="4434840"/>
            <a:ext cx="5486400" cy="1554480"/>
          </a:xfrm>
          <a:prstGeom prst="rect">
            <a:avLst/>
          </a:prstGeom>
          <a:noFill/>
        </p:spPr>
        <p:txBody>
          <a:bodyPr wrap="square" lIns="0" tIns="0" rIns="0" bIns="0">
            <a:spAutoFit/>
          </a:bodyPr>
          <a:lstStyle/>
          <a:p>
            <a:pPr algn="l">
              <a:spcAft>
                <a:spcPts val="600"/>
              </a:spcAft>
            </a:pPr>
            <a:r>
              <a:rPr sz="1600" b="0">
                <a:solidFill>
                  <a:srgbClr val="222A33"/>
                </a:solidFill>
              </a:rPr>
              <a:t>• </a:t>
            </a:r>
            <a:r>
              <a:rPr sz="1600" b="1">
                <a:solidFill>
                  <a:srgbClr val="222A33"/>
                </a:solidFill>
              </a:rPr>
              <a:t>Entity</a:t>
            </a:r>
            <a:r>
              <a:rPr sz="1600" b="0">
                <a:solidFill>
                  <a:srgbClr val="222A33"/>
                </a:solidFill>
              </a:rPr>
              <a:t> — HUMAN / AGENT / TOOL / ORG / ARBITER</a:t>
            </a:r>
          </a:p>
          <a:p>
            <a:pPr algn="l">
              <a:spcAft>
                <a:spcPts val="600"/>
              </a:spcAft>
            </a:pPr>
            <a:r>
              <a:rPr sz="1600" b="0">
                <a:solidFill>
                  <a:srgbClr val="222A33"/>
                </a:solidFill>
              </a:rPr>
              <a:t>• </a:t>
            </a:r>
            <a:r>
              <a:rPr sz="1600" b="1">
                <a:solidFill>
                  <a:srgbClr val="222A33"/>
                </a:solidFill>
              </a:rPr>
              <a:t>Host</a:t>
            </a:r>
            <a:r>
              <a:rPr sz="1600" b="0">
                <a:solidFill>
                  <a:srgbClr val="222A33"/>
                </a:solidFill>
              </a:rPr>
              <a:t> — can be a pure routing node</a:t>
            </a:r>
          </a:p>
          <a:p>
            <a:pPr algn="l">
              <a:spcAft>
                <a:spcPts val="600"/>
              </a:spcAft>
            </a:pPr>
            <a:r>
              <a:rPr sz="1600" b="0">
                <a:solidFill>
                  <a:srgbClr val="222A33"/>
                </a:solidFill>
              </a:rPr>
              <a:t>• </a:t>
            </a:r>
            <a:r>
              <a:rPr sz="1600" b="1">
                <a:solidFill>
                  <a:srgbClr val="222A33"/>
                </a:solidFill>
              </a:rPr>
              <a:t>Friend</a:t>
            </a:r>
            <a:r>
              <a:rPr sz="1600" b="0">
                <a:solidFill>
                  <a:srgbClr val="222A33"/>
                </a:solidFill>
              </a:rPr>
              <a:t> — persistent relationship; Federation by Entity ID</a:t>
            </a:r>
          </a:p>
          <a:p>
            <a:pPr algn="l">
              <a:spcAft>
                <a:spcPts val="600"/>
              </a:spcAft>
            </a:pPr>
            <a:r>
              <a:rPr sz="1600" b="0">
                <a:solidFill>
                  <a:srgbClr val="222A33"/>
                </a:solidFill>
              </a:rPr>
              <a:t>• </a:t>
            </a:r>
            <a:r>
              <a:rPr sz="1600" b="1">
                <a:solidFill>
                  <a:srgbClr val="222A33"/>
                </a:solidFill>
              </a:rPr>
              <a:t>Trade</a:t>
            </a:r>
            <a:r>
              <a:rPr sz="1600" b="0">
                <a:solidFill>
                  <a:srgbClr val="222A33"/>
                </a:solidFill>
              </a:rPr>
              <a:t> — contracts / payments / ratings built in</a:t>
            </a:r>
          </a:p>
        </p:txBody>
      </p:sp>
      <p:sp>
        <p:nvSpPr>
          <p:cNvPr id="14" name="TextBox 13"/>
          <p:cNvSpPr txBox="1"/>
          <p:nvPr/>
        </p:nvSpPr>
        <p:spPr>
          <a:xfrm>
            <a:off x="6400800" y="4434840"/>
            <a:ext cx="5486400" cy="1554480"/>
          </a:xfrm>
          <a:prstGeom prst="rect">
            <a:avLst/>
          </a:prstGeom>
          <a:noFill/>
        </p:spPr>
        <p:txBody>
          <a:bodyPr wrap="square" lIns="0" tIns="0" rIns="0" bIns="0">
            <a:spAutoFit/>
          </a:bodyPr>
          <a:lstStyle/>
          <a:p>
            <a:pPr algn="l">
              <a:spcAft>
                <a:spcPts val="600"/>
              </a:spcAft>
            </a:pPr>
            <a:r>
              <a:rPr sz="1600">
                <a:solidFill>
                  <a:srgbClr val="222A33"/>
                </a:solidFill>
              </a:rPr>
              <a:t>• Agents need to find each other across deployments / orgs</a:t>
            </a:r>
          </a:p>
          <a:p>
            <a:pPr algn="l">
              <a:spcAft>
                <a:spcPts val="600"/>
              </a:spcAft>
            </a:pPr>
            <a:r>
              <a:rPr sz="1600">
                <a:solidFill>
                  <a:srgbClr val="222A33"/>
                </a:solidFill>
              </a:rPr>
              <a:t>• You need offline delivery, audit, end-to-end privacy across relays</a:t>
            </a:r>
          </a:p>
          <a:p>
            <a:pPr algn="l">
              <a:spcAft>
                <a:spcPts val="600"/>
              </a:spcAft>
            </a:pPr>
            <a:r>
              <a:rPr sz="1600">
                <a:solidFill>
                  <a:srgbClr val="222A33"/>
                </a:solidFill>
              </a:rPr>
              <a:t>• Identity must survive when the underlying machine changes</a:t>
            </a:r>
          </a:p>
        </p:txBody>
      </p:sp>
      <p:sp>
        <p:nvSpPr>
          <p:cNvPr id="15" name="TextBox 14"/>
          <p:cNvSpPr txBox="1"/>
          <p:nvPr/>
        </p:nvSpPr>
        <p:spPr>
          <a:xfrm>
            <a:off x="548640" y="6217920"/>
            <a:ext cx="10972800" cy="502920"/>
          </a:xfrm>
          <a:prstGeom prst="rect">
            <a:avLst/>
          </a:prstGeom>
          <a:noFill/>
        </p:spPr>
        <p:txBody>
          <a:bodyPr wrap="square" lIns="0" tIns="0" rIns="0" bIns="0" anchor="t">
            <a:spAutoFit/>
          </a:bodyPr>
          <a:lstStyle/>
          <a:p>
            <a:pPr algn="ctr"/>
            <a:r>
              <a:rPr sz="2000" b="1">
                <a:solidFill>
                  <a:srgbClr val="1A4D8F"/>
                </a:solidFill>
              </a:rPr>
              <a:t>Mental model: FA is the email / postal system for agents.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square" lIns="0" tIns="0" rIns="0" bIns="0" anchor="t">
            <a:spAutoFit/>
          </a:bodyPr>
          <a:lstStyle/>
          <a:p>
            <a:pPr algn="l"/>
            <a:r>
              <a:rPr sz="3200" b="1">
                <a:solidFill>
                  <a:srgbClr val="1A4D8F"/>
                </a:solidFill>
              </a:rPr>
              <a:t>Side by side</a:t>
            </a:r>
          </a:p>
        </p:txBody>
      </p:sp>
      <p:sp>
        <p:nvSpPr>
          <p:cNvPr id="3" name="Rectangle 2"/>
          <p:cNvSpPr/>
          <p:nvPr/>
        </p:nvSpPr>
        <p:spPr>
          <a:xfrm>
            <a:off x="548640" y="960120"/>
            <a:ext cx="11091672" cy="20000"/>
          </a:xfrm>
          <a:prstGeom prst="rect">
            <a:avLst/>
          </a:prstGeom>
          <a:solidFill>
            <a:srgbClr val="1A4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280160"/>
          <a:ext cx="11430000" cy="50292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628650">
                <a:tc>
                  <a:txBody>
                    <a:bodyPr/>
                    <a:lstStyle/>
                    <a:p>
                      <a:pPr algn="l"/>
                      <a:r>
                        <a:rPr sz="1300" b="1">
                          <a:solidFill>
                            <a:srgbClr val="FFFFFF"/>
                          </a:solidFill>
                        </a:rPr>
                        <a:t>Dimension</a:t>
                      </a:r>
                    </a:p>
                  </a:txBody>
                  <a:tcPr>
                    <a:solidFill>
                      <a:srgbClr val="1A4D8F"/>
                    </a:solidFill>
                  </a:tcPr>
                </a:tc>
                <a:tc>
                  <a:txBody>
                    <a:bodyPr/>
                    <a:lstStyle/>
                    <a:p>
                      <a:pPr algn="l"/>
                      <a:r>
                        <a:rPr sz="1300" b="1">
                          <a:solidFill>
                            <a:srgbClr val="FFFFFF"/>
                          </a:solidFill>
                        </a:rPr>
                        <a:t>MCP</a:t>
                      </a:r>
                    </a:p>
                  </a:txBody>
                  <a:tcPr>
                    <a:solidFill>
                      <a:srgbClr val="1A4D8F"/>
                    </a:solidFill>
                  </a:tcPr>
                </a:tc>
                <a:tc>
                  <a:txBody>
                    <a:bodyPr/>
                    <a:lstStyle/>
                    <a:p>
                      <a:pPr algn="l"/>
                      <a:r>
                        <a:rPr sz="1300" b="1">
                          <a:solidFill>
                            <a:srgbClr val="FFFFFF"/>
                          </a:solidFill>
                        </a:rPr>
                        <a:t>A2A</a:t>
                      </a:r>
                    </a:p>
                  </a:txBody>
                  <a:tcPr>
                    <a:solidFill>
                      <a:srgbClr val="1A4D8F"/>
                    </a:solidFill>
                  </a:tcPr>
                </a:tc>
                <a:tc>
                  <a:txBody>
                    <a:bodyPr/>
                    <a:lstStyle/>
                    <a:p>
                      <a:pPr algn="l"/>
                      <a:r>
                        <a:rPr sz="1300" b="1">
                          <a:solidFill>
                            <a:srgbClr val="FFFFFF"/>
                          </a:solidFill>
                        </a:rPr>
                        <a:t>FA</a:t>
                      </a:r>
                    </a:p>
                  </a:txBody>
                  <a:tcPr>
                    <a:solidFill>
                      <a:srgbClr val="1A4D8F"/>
                    </a:solidFill>
                  </a:tcPr>
                </a:tc>
                <a:extLst>
                  <a:ext uri="{0D108BD9-81ED-4DB2-BD59-A6C34878D82A}">
                    <a16:rowId xmlns:a16="http://schemas.microsoft.com/office/drawing/2014/main" val="10000"/>
                  </a:ext>
                </a:extLst>
              </a:tr>
              <a:tr h="628650">
                <a:tc>
                  <a:txBody>
                    <a:bodyPr/>
                    <a:lstStyle/>
                    <a:p>
                      <a:pPr algn="l"/>
                      <a:r>
                        <a:rPr sz="1300" b="0">
                          <a:solidFill>
                            <a:srgbClr val="222A33"/>
                          </a:solidFill>
                        </a:rPr>
                        <a:t>Connects</a:t>
                      </a:r>
                    </a:p>
                  </a:txBody>
                  <a:tcPr>
                    <a:solidFill>
                      <a:srgbClr val="FFFFFF"/>
                    </a:solidFill>
                  </a:tcPr>
                </a:tc>
                <a:tc>
                  <a:txBody>
                    <a:bodyPr/>
                    <a:lstStyle/>
                    <a:p>
                      <a:pPr algn="l"/>
                      <a:r>
                        <a:rPr sz="1300" b="0">
                          <a:solidFill>
                            <a:srgbClr val="222A33"/>
                          </a:solidFill>
                        </a:rPr>
                        <a:t>LLM ↔ tools</a:t>
                      </a:r>
                    </a:p>
                  </a:txBody>
                  <a:tcPr>
                    <a:solidFill>
                      <a:srgbClr val="FFFFFF"/>
                    </a:solidFill>
                  </a:tcPr>
                </a:tc>
                <a:tc>
                  <a:txBody>
                    <a:bodyPr/>
                    <a:lstStyle/>
                    <a:p>
                      <a:pPr algn="l"/>
                      <a:r>
                        <a:rPr sz="1300" b="0">
                          <a:solidFill>
                            <a:srgbClr val="222A33"/>
                          </a:solidFill>
                        </a:rPr>
                        <a:t>Agent ↔ Agent</a:t>
                      </a:r>
                    </a:p>
                  </a:txBody>
                  <a:tcPr>
                    <a:solidFill>
                      <a:srgbClr val="FFFFFF"/>
                    </a:solidFill>
                  </a:tcPr>
                </a:tc>
                <a:tc>
                  <a:txBody>
                    <a:bodyPr/>
                    <a:lstStyle/>
                    <a:p>
                      <a:pPr algn="l"/>
                      <a:r>
                        <a:rPr sz="1300" b="0">
                          <a:solidFill>
                            <a:srgbClr val="222A33"/>
                          </a:solidFill>
                        </a:rPr>
                        <a:t>Humans / Agents / Tools / Services</a:t>
                      </a:r>
                    </a:p>
                  </a:txBody>
                  <a:tcPr>
                    <a:solidFill>
                      <a:srgbClr val="FFFFFF"/>
                    </a:solidFill>
                  </a:tcPr>
                </a:tc>
                <a:extLst>
                  <a:ext uri="{0D108BD9-81ED-4DB2-BD59-A6C34878D82A}">
                    <a16:rowId xmlns:a16="http://schemas.microsoft.com/office/drawing/2014/main" val="10001"/>
                  </a:ext>
                </a:extLst>
              </a:tr>
              <a:tr h="628650">
                <a:tc>
                  <a:txBody>
                    <a:bodyPr/>
                    <a:lstStyle/>
                    <a:p>
                      <a:pPr algn="l"/>
                      <a:r>
                        <a:rPr sz="1300" b="0">
                          <a:solidFill>
                            <a:srgbClr val="222A33"/>
                          </a:solidFill>
                        </a:rPr>
                        <a:t>Addressing</a:t>
                      </a:r>
                    </a:p>
                  </a:txBody>
                  <a:tcPr>
                    <a:solidFill>
                      <a:srgbClr val="F0F4F8"/>
                    </a:solidFill>
                  </a:tcPr>
                </a:tc>
                <a:tc>
                  <a:txBody>
                    <a:bodyPr/>
                    <a:lstStyle/>
                    <a:p>
                      <a:pPr algn="l"/>
                      <a:r>
                        <a:rPr sz="1300" b="0">
                          <a:solidFill>
                            <a:srgbClr val="222A33"/>
                          </a:solidFill>
                        </a:rPr>
                        <a:t>tool name</a:t>
                      </a:r>
                    </a:p>
                  </a:txBody>
                  <a:tcPr>
                    <a:solidFill>
                      <a:srgbClr val="F0F4F8"/>
                    </a:solidFill>
                  </a:tcPr>
                </a:tc>
                <a:tc>
                  <a:txBody>
                    <a:bodyPr/>
                    <a:lstStyle/>
                    <a:p>
                      <a:pPr algn="l"/>
                      <a:r>
                        <a:rPr sz="1300" b="0">
                          <a:solidFill>
                            <a:srgbClr val="222A33"/>
                          </a:solidFill>
                        </a:rPr>
                        <a:t>URL (DNS-bound)</a:t>
                      </a:r>
                    </a:p>
                  </a:txBody>
                  <a:tcPr>
                    <a:solidFill>
                      <a:srgbClr val="F0F4F8"/>
                    </a:solidFill>
                  </a:tcPr>
                </a:tc>
                <a:tc>
                  <a:txBody>
                    <a:bodyPr/>
                    <a:lstStyle/>
                    <a:p>
                      <a:pPr algn="l"/>
                      <a:r>
                        <a:rPr sz="1300" b="1">
                          <a:solidFill>
                            <a:srgbClr val="222A33"/>
                          </a:solidFill>
                        </a:rPr>
                        <a:t>Entity ID</a:t>
                      </a:r>
                      <a:r>
                        <a:rPr sz="1300" b="0">
                          <a:solidFill>
                            <a:srgbClr val="222A33"/>
                          </a:solidFill>
                        </a:rPr>
                        <a:t> (location-independent)</a:t>
                      </a:r>
                    </a:p>
                  </a:txBody>
                  <a:tcPr>
                    <a:solidFill>
                      <a:srgbClr val="F0F4F8"/>
                    </a:solidFill>
                  </a:tcPr>
                </a:tc>
                <a:extLst>
                  <a:ext uri="{0D108BD9-81ED-4DB2-BD59-A6C34878D82A}">
                    <a16:rowId xmlns:a16="http://schemas.microsoft.com/office/drawing/2014/main" val="10002"/>
                  </a:ext>
                </a:extLst>
              </a:tr>
              <a:tr h="628650">
                <a:tc>
                  <a:txBody>
                    <a:bodyPr/>
                    <a:lstStyle/>
                    <a:p>
                      <a:pPr algn="l"/>
                      <a:r>
                        <a:rPr sz="1300" b="0">
                          <a:solidFill>
                            <a:srgbClr val="222A33"/>
                          </a:solidFill>
                        </a:rPr>
                        <a:t>Topology</a:t>
                      </a:r>
                    </a:p>
                  </a:txBody>
                  <a:tcPr>
                    <a:solidFill>
                      <a:srgbClr val="FFFFFF"/>
                    </a:solidFill>
                  </a:tcPr>
                </a:tc>
                <a:tc>
                  <a:txBody>
                    <a:bodyPr/>
                    <a:lstStyle/>
                    <a:p>
                      <a:pPr algn="l"/>
                      <a:r>
                        <a:rPr sz="1300" b="0">
                          <a:solidFill>
                            <a:srgbClr val="222A33"/>
                          </a:solidFill>
                        </a:rPr>
                        <a:t>single host</a:t>
                      </a:r>
                    </a:p>
                  </a:txBody>
                  <a:tcPr>
                    <a:solidFill>
                      <a:srgbClr val="FFFFFF"/>
                    </a:solidFill>
                  </a:tcPr>
                </a:tc>
                <a:tc>
                  <a:txBody>
                    <a:bodyPr/>
                    <a:lstStyle/>
                    <a:p>
                      <a:pPr algn="l"/>
                      <a:r>
                        <a:rPr sz="1300" b="0">
                          <a:solidFill>
                            <a:srgbClr val="222A33"/>
                          </a:solidFill>
                        </a:rPr>
                        <a:t>flat (every agent a leaf)</a:t>
                      </a:r>
                    </a:p>
                  </a:txBody>
                  <a:tcPr>
                    <a:solidFill>
                      <a:srgbClr val="FFFFFF"/>
                    </a:solidFill>
                  </a:tcPr>
                </a:tc>
                <a:tc>
                  <a:txBody>
                    <a:bodyPr/>
                    <a:lstStyle/>
                    <a:p>
                      <a:pPr algn="l"/>
                      <a:r>
                        <a:rPr sz="1300" b="0">
                          <a:solidFill>
                            <a:srgbClr val="222A33"/>
                          </a:solidFill>
                        </a:rPr>
                        <a:t>tree (hosts can be relays)</a:t>
                      </a:r>
                    </a:p>
                  </a:txBody>
                  <a:tcPr>
                    <a:solidFill>
                      <a:srgbClr val="FFFFFF"/>
                    </a:solidFill>
                  </a:tcPr>
                </a:tc>
                <a:extLst>
                  <a:ext uri="{0D108BD9-81ED-4DB2-BD59-A6C34878D82A}">
                    <a16:rowId xmlns:a16="http://schemas.microsoft.com/office/drawing/2014/main" val="10003"/>
                  </a:ext>
                </a:extLst>
              </a:tr>
              <a:tr h="628650">
                <a:tc>
                  <a:txBody>
                    <a:bodyPr/>
                    <a:lstStyle/>
                    <a:p>
                      <a:pPr algn="l"/>
                      <a:r>
                        <a:rPr sz="1300" b="0">
                          <a:solidFill>
                            <a:srgbClr val="222A33"/>
                          </a:solidFill>
                        </a:rPr>
                        <a:t>Discovery</a:t>
                      </a:r>
                    </a:p>
                  </a:txBody>
                  <a:tcPr>
                    <a:solidFill>
                      <a:srgbClr val="F0F4F8"/>
                    </a:solidFill>
                  </a:tcPr>
                </a:tc>
                <a:tc>
                  <a:txBody>
                    <a:bodyPr/>
                    <a:lstStyle/>
                    <a:p>
                      <a:pPr algn="l"/>
                      <a:r>
                        <a:rPr sz="1300" b="0">
                          <a:solidFill>
                            <a:srgbClr val="222A33"/>
                          </a:solidFill>
                        </a:rPr>
                        <a:t>client config</a:t>
                      </a:r>
                    </a:p>
                  </a:txBody>
                  <a:tcPr>
                    <a:solidFill>
                      <a:srgbClr val="F0F4F8"/>
                    </a:solidFill>
                  </a:tcPr>
                </a:tc>
                <a:tc>
                  <a:txBody>
                    <a:bodyPr/>
                    <a:lstStyle/>
                    <a:p>
                      <a:pPr algn="l"/>
                      <a:r>
                        <a:rPr sz="1300" b="0">
                          <a:solidFill>
                            <a:srgbClr val="222A33"/>
                          </a:solidFill>
                        </a:rPr>
                        <a:t>Agent Card (URL must be known)</a:t>
                      </a:r>
                    </a:p>
                  </a:txBody>
                  <a:tcPr>
                    <a:solidFill>
                      <a:srgbClr val="F0F4F8"/>
                    </a:solidFill>
                  </a:tcPr>
                </a:tc>
                <a:tc>
                  <a:txBody>
                    <a:bodyPr/>
                    <a:lstStyle/>
                    <a:p>
                      <a:pPr algn="l"/>
                      <a:r>
                        <a:rPr sz="1300" b="1">
                          <a:solidFill>
                            <a:srgbClr val="222A33"/>
                          </a:solidFill>
                        </a:rPr>
                        <a:t>in-protocol</a:t>
                      </a:r>
                    </a:p>
                  </a:txBody>
                  <a:tcPr>
                    <a:solidFill>
                      <a:srgbClr val="F0F4F8"/>
                    </a:solidFill>
                  </a:tcPr>
                </a:tc>
                <a:extLst>
                  <a:ext uri="{0D108BD9-81ED-4DB2-BD59-A6C34878D82A}">
                    <a16:rowId xmlns:a16="http://schemas.microsoft.com/office/drawing/2014/main" val="10004"/>
                  </a:ext>
                </a:extLst>
              </a:tr>
              <a:tr h="628650">
                <a:tc>
                  <a:txBody>
                    <a:bodyPr/>
                    <a:lstStyle/>
                    <a:p>
                      <a:pPr algn="l"/>
                      <a:r>
                        <a:rPr sz="1300" b="0">
                          <a:solidFill>
                            <a:srgbClr val="222A33"/>
                          </a:solidFill>
                        </a:rPr>
                        <a:t>State</a:t>
                      </a:r>
                    </a:p>
                  </a:txBody>
                  <a:tcPr>
                    <a:solidFill>
                      <a:srgbClr val="FFFFFF"/>
                    </a:solidFill>
                  </a:tcPr>
                </a:tc>
                <a:tc>
                  <a:txBody>
                    <a:bodyPr/>
                    <a:lstStyle/>
                    <a:p>
                      <a:pPr algn="l"/>
                      <a:r>
                        <a:rPr sz="1300" b="0">
                          <a:solidFill>
                            <a:srgbClr val="222A33"/>
                          </a:solidFill>
                        </a:rPr>
                        <a:t>none</a:t>
                      </a:r>
                    </a:p>
                  </a:txBody>
                  <a:tcPr>
                    <a:solidFill>
                      <a:srgbClr val="FFFFFF"/>
                    </a:solidFill>
                  </a:tcPr>
                </a:tc>
                <a:tc>
                  <a:txBody>
                    <a:bodyPr/>
                    <a:lstStyle/>
                    <a:p>
                      <a:pPr algn="l"/>
                      <a:r>
                        <a:rPr sz="1300" b="0">
                          <a:solidFill>
                            <a:srgbClr val="222A33"/>
                          </a:solidFill>
                        </a:rPr>
                        <a:t>task lifecycle</a:t>
                      </a:r>
                    </a:p>
                  </a:txBody>
                  <a:tcPr>
                    <a:solidFill>
                      <a:srgbClr val="FFFFFF"/>
                    </a:solidFill>
                  </a:tcPr>
                </a:tc>
                <a:tc>
                  <a:txBody>
                    <a:bodyPr/>
                    <a:lstStyle/>
                    <a:p>
                      <a:pPr algn="l"/>
                      <a:r>
                        <a:rPr sz="1300" b="1">
                          <a:solidFill>
                            <a:srgbClr val="222A33"/>
                          </a:solidFill>
                        </a:rPr>
                        <a:t>persistent friend graph + mailbox</a:t>
                      </a:r>
                    </a:p>
                  </a:txBody>
                  <a:tcPr>
                    <a:solidFill>
                      <a:srgbClr val="FFFFFF"/>
                    </a:solidFill>
                  </a:tcPr>
                </a:tc>
                <a:extLst>
                  <a:ext uri="{0D108BD9-81ED-4DB2-BD59-A6C34878D82A}">
                    <a16:rowId xmlns:a16="http://schemas.microsoft.com/office/drawing/2014/main" val="10005"/>
                  </a:ext>
                </a:extLst>
              </a:tr>
              <a:tr h="628650">
                <a:tc>
                  <a:txBody>
                    <a:bodyPr/>
                    <a:lstStyle/>
                    <a:p>
                      <a:pPr algn="l"/>
                      <a:r>
                        <a:rPr sz="1300" b="0">
                          <a:solidFill>
                            <a:srgbClr val="222A33"/>
                          </a:solidFill>
                        </a:rPr>
                        <a:t>Encryption</a:t>
                      </a:r>
                    </a:p>
                  </a:txBody>
                  <a:tcPr>
                    <a:solidFill>
                      <a:srgbClr val="F0F4F8"/>
                    </a:solidFill>
                  </a:tcPr>
                </a:tc>
                <a:tc>
                  <a:txBody>
                    <a:bodyPr/>
                    <a:lstStyle/>
                    <a:p>
                      <a:pPr algn="l"/>
                      <a:r>
                        <a:rPr sz="1300" b="0">
                          <a:solidFill>
                            <a:srgbClr val="222A33"/>
                          </a:solidFill>
                        </a:rPr>
                        <a:t>typically TLS</a:t>
                      </a:r>
                    </a:p>
                  </a:txBody>
                  <a:tcPr>
                    <a:solidFill>
                      <a:srgbClr val="F0F4F8"/>
                    </a:solidFill>
                  </a:tcPr>
                </a:tc>
                <a:tc>
                  <a:txBody>
                    <a:bodyPr/>
                    <a:lstStyle/>
                    <a:p>
                      <a:pPr algn="l"/>
                      <a:r>
                        <a:rPr sz="1300" b="0">
                          <a:solidFill>
                            <a:srgbClr val="222A33"/>
                          </a:solidFill>
                        </a:rPr>
                        <a:t>typically TLS</a:t>
                      </a:r>
                    </a:p>
                  </a:txBody>
                  <a:tcPr>
                    <a:solidFill>
                      <a:srgbClr val="F0F4F8"/>
                    </a:solidFill>
                  </a:tcPr>
                </a:tc>
                <a:tc>
                  <a:txBody>
                    <a:bodyPr/>
                    <a:lstStyle/>
                    <a:p>
                      <a:pPr algn="l"/>
                      <a:r>
                        <a:rPr sz="1300" b="0">
                          <a:solidFill>
                            <a:srgbClr val="222A33"/>
                          </a:solidFill>
                        </a:rPr>
                        <a:t>per-entity keys, end-to-end</a:t>
                      </a:r>
                    </a:p>
                  </a:txBody>
                  <a:tcPr>
                    <a:solidFill>
                      <a:srgbClr val="F0F4F8"/>
                    </a:solidFill>
                  </a:tcPr>
                </a:tc>
                <a:extLst>
                  <a:ext uri="{0D108BD9-81ED-4DB2-BD59-A6C34878D82A}">
                    <a16:rowId xmlns:a16="http://schemas.microsoft.com/office/drawing/2014/main" val="10006"/>
                  </a:ext>
                </a:extLst>
              </a:tr>
              <a:tr h="628650">
                <a:tc>
                  <a:txBody>
                    <a:bodyPr/>
                    <a:lstStyle/>
                    <a:p>
                      <a:pPr algn="l"/>
                      <a:r>
                        <a:rPr sz="1300" b="0">
                          <a:solidFill>
                            <a:srgbClr val="222A33"/>
                          </a:solidFill>
                        </a:rPr>
                        <a:t>Economy</a:t>
                      </a:r>
                    </a:p>
                  </a:txBody>
                  <a:tcPr>
                    <a:solidFill>
                      <a:srgbClr val="FFFFFF"/>
                    </a:solidFill>
                  </a:tcPr>
                </a:tc>
                <a:tc>
                  <a:txBody>
                    <a:bodyPr/>
                    <a:lstStyle/>
                    <a:p>
                      <a:pPr algn="l"/>
                      <a:r>
                        <a:rPr sz="1300" b="0">
                          <a:solidFill>
                            <a:srgbClr val="222A33"/>
                          </a:solidFill>
                        </a:rPr>
                        <a:t>none</a:t>
                      </a:r>
                    </a:p>
                  </a:txBody>
                  <a:tcPr>
                    <a:solidFill>
                      <a:srgbClr val="FFFFFF"/>
                    </a:solidFill>
                  </a:tcPr>
                </a:tc>
                <a:tc>
                  <a:txBody>
                    <a:bodyPr/>
                    <a:lstStyle/>
                    <a:p>
                      <a:pPr algn="l"/>
                      <a:r>
                        <a:rPr sz="1300" b="0">
                          <a:solidFill>
                            <a:srgbClr val="222A33"/>
                          </a:solidFill>
                        </a:rPr>
                        <a:t>none</a:t>
                      </a:r>
                    </a:p>
                  </a:txBody>
                  <a:tcPr>
                    <a:solidFill>
                      <a:srgbClr val="FFFFFF"/>
                    </a:solidFill>
                  </a:tcPr>
                </a:tc>
                <a:tc>
                  <a:txBody>
                    <a:bodyPr/>
                    <a:lstStyle/>
                    <a:p>
                      <a:pPr algn="l"/>
                      <a:r>
                        <a:rPr sz="1300" b="1">
                          <a:solidFill>
                            <a:srgbClr val="222A33"/>
                          </a:solidFill>
                        </a:rPr>
                        <a:t>contracts / payments / ratings</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square" lIns="0" tIns="0" rIns="0" bIns="0" anchor="t">
            <a:spAutoFit/>
          </a:bodyPr>
          <a:lstStyle/>
          <a:p>
            <a:pPr algn="l"/>
            <a:r>
              <a:rPr sz="3200" b="1">
                <a:solidFill>
                  <a:srgbClr val="1A4D8F"/>
                </a:solidFill>
              </a:rPr>
              <a:t>Why federate, instead of pure P2P?</a:t>
            </a:r>
          </a:p>
        </p:txBody>
      </p:sp>
      <p:sp>
        <p:nvSpPr>
          <p:cNvPr id="3" name="Rectangle 2"/>
          <p:cNvSpPr/>
          <p:nvPr/>
        </p:nvSpPr>
        <p:spPr>
          <a:xfrm>
            <a:off x="548640" y="960120"/>
            <a:ext cx="11091672" cy="20000"/>
          </a:xfrm>
          <a:prstGeom prst="rect">
            <a:avLst/>
          </a:prstGeom>
          <a:solidFill>
            <a:srgbClr val="1A4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10972800" cy="457200"/>
          </a:xfrm>
          <a:prstGeom prst="rect">
            <a:avLst/>
          </a:prstGeom>
          <a:noFill/>
        </p:spPr>
        <p:txBody>
          <a:bodyPr wrap="square" lIns="0" tIns="0" rIns="0" bIns="0" anchor="t">
            <a:spAutoFit/>
          </a:bodyPr>
          <a:lstStyle/>
          <a:p>
            <a:pPr algn="l"/>
            <a:r>
              <a:rPr sz="1800" b="0">
                <a:solidFill>
                  <a:srgbClr val="222A33"/>
                </a:solidFill>
              </a:rPr>
              <a:t>Scenario: Dr. Lee (McGill) and Dr. Wright (U of T) — their AI assistants need to collaborate.</a:t>
            </a:r>
          </a:p>
        </p:txBody>
      </p:sp>
      <p:graphicFrame>
        <p:nvGraphicFramePr>
          <p:cNvPr id="5" name="Table 4"/>
          <p:cNvGraphicFramePr>
            <a:graphicFrameLocks noGrp="1"/>
          </p:cNvGraphicFramePr>
          <p:nvPr/>
        </p:nvGraphicFramePr>
        <p:xfrm>
          <a:off x="548640" y="1828800"/>
          <a:ext cx="10972800" cy="41148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85800">
                <a:tc>
                  <a:txBody>
                    <a:bodyPr/>
                    <a:lstStyle/>
                    <a:p>
                      <a:pPr algn="l"/>
                      <a:endParaRPr/>
                    </a:p>
                  </a:txBody>
                  <a:tcPr>
                    <a:solidFill>
                      <a:srgbClr val="1A4D8F"/>
                    </a:solidFill>
                  </a:tcPr>
                </a:tc>
                <a:tc>
                  <a:txBody>
                    <a:bodyPr/>
                    <a:lstStyle/>
                    <a:p>
                      <a:pPr algn="l"/>
                      <a:r>
                        <a:rPr sz="1400" b="1">
                          <a:solidFill>
                            <a:srgbClr val="FFFFFF"/>
                          </a:solidFill>
                        </a:rPr>
                        <a:t>A2A (P2P)</a:t>
                      </a:r>
                    </a:p>
                  </a:txBody>
                  <a:tcPr>
                    <a:solidFill>
                      <a:srgbClr val="1A4D8F"/>
                    </a:solidFill>
                  </a:tcPr>
                </a:tc>
                <a:tc>
                  <a:txBody>
                    <a:bodyPr/>
                    <a:lstStyle/>
                    <a:p>
                      <a:pPr algn="l"/>
                      <a:r>
                        <a:rPr sz="1400" b="1">
                          <a:solidFill>
                            <a:srgbClr val="FFFFFF"/>
                          </a:solidFill>
                        </a:rPr>
                        <a:t>FA (federated)</a:t>
                      </a:r>
                    </a:p>
                  </a:txBody>
                  <a:tcPr>
                    <a:solidFill>
                      <a:srgbClr val="1A4D8F"/>
                    </a:solidFill>
                  </a:tcPr>
                </a:tc>
                <a:extLst>
                  <a:ext uri="{0D108BD9-81ED-4DB2-BD59-A6C34878D82A}">
                    <a16:rowId xmlns:a16="http://schemas.microsoft.com/office/drawing/2014/main" val="10000"/>
                  </a:ext>
                </a:extLst>
              </a:tr>
              <a:tr h="685800">
                <a:tc>
                  <a:txBody>
                    <a:bodyPr/>
                    <a:lstStyle/>
                    <a:p>
                      <a:pPr algn="l"/>
                      <a:r>
                        <a:rPr sz="1400" b="0">
                          <a:solidFill>
                            <a:srgbClr val="222A33"/>
                          </a:solidFill>
                        </a:rPr>
                        <a:t>Reachability</a:t>
                      </a:r>
                    </a:p>
                  </a:txBody>
                  <a:tcPr>
                    <a:solidFill>
                      <a:srgbClr val="FFFFFF"/>
                    </a:solidFill>
                  </a:tcPr>
                </a:tc>
                <a:tc>
                  <a:txBody>
                    <a:bodyPr/>
                    <a:lstStyle/>
                    <a:p>
                      <a:pPr algn="l"/>
                      <a:r>
                        <a:rPr sz="1400" b="0">
                          <a:solidFill>
                            <a:srgbClr val="222A33"/>
                          </a:solidFill>
                        </a:rPr>
                        <a:t>laptop behind firewall: unreachable</a:t>
                      </a:r>
                    </a:p>
                  </a:txBody>
                  <a:tcPr>
                    <a:solidFill>
                      <a:srgbClr val="FFFFFF"/>
                    </a:solidFill>
                  </a:tcPr>
                </a:tc>
                <a:tc>
                  <a:txBody>
                    <a:bodyPr/>
                    <a:lstStyle/>
                    <a:p>
                      <a:pPr algn="l"/>
                      <a:r>
                        <a:rPr sz="1400" b="0">
                          <a:solidFill>
                            <a:srgbClr val="222A33"/>
                          </a:solidFill>
                        </a:rPr>
                        <a:t>host maintains outbound link; agents register on it</a:t>
                      </a:r>
                    </a:p>
                  </a:txBody>
                  <a:tcPr>
                    <a:solidFill>
                      <a:srgbClr val="FFFFFF"/>
                    </a:solidFill>
                  </a:tcPr>
                </a:tc>
                <a:extLst>
                  <a:ext uri="{0D108BD9-81ED-4DB2-BD59-A6C34878D82A}">
                    <a16:rowId xmlns:a16="http://schemas.microsoft.com/office/drawing/2014/main" val="10001"/>
                  </a:ext>
                </a:extLst>
              </a:tr>
              <a:tr h="685800">
                <a:tc>
                  <a:txBody>
                    <a:bodyPr/>
                    <a:lstStyle/>
                    <a:p>
                      <a:pPr algn="l"/>
                      <a:r>
                        <a:rPr sz="1400" b="0">
                          <a:solidFill>
                            <a:srgbClr val="222A33"/>
                          </a:solidFill>
                        </a:rPr>
                        <a:t>Identity</a:t>
                      </a:r>
                    </a:p>
                  </a:txBody>
                  <a:tcPr>
                    <a:solidFill>
                      <a:srgbClr val="F0F4F8"/>
                    </a:solidFill>
                  </a:tcPr>
                </a:tc>
                <a:tc>
                  <a:txBody>
                    <a:bodyPr/>
                    <a:lstStyle/>
                    <a:p>
                      <a:pPr algn="l"/>
                      <a:r>
                        <a:rPr sz="1400" b="0">
                          <a:solidFill>
                            <a:srgbClr val="222A33"/>
                          </a:solidFill>
                        </a:rPr>
                        <a:t>URL = identity; new laptop → new URL</a:t>
                      </a:r>
                    </a:p>
                  </a:txBody>
                  <a:tcPr>
                    <a:solidFill>
                      <a:srgbClr val="F0F4F8"/>
                    </a:solidFill>
                  </a:tcPr>
                </a:tc>
                <a:tc>
                  <a:txBody>
                    <a:bodyPr/>
                    <a:lstStyle/>
                    <a:p>
                      <a:pPr algn="l"/>
                      <a:r>
                        <a:rPr sz="1400" b="1">
                          <a:solidFill>
                            <a:srgbClr val="222A33"/>
                          </a:solidFill>
                        </a:rPr>
                        <a:t>stable Entity ID</a:t>
                      </a:r>
                    </a:p>
                  </a:txBody>
                  <a:tcPr>
                    <a:solidFill>
                      <a:srgbClr val="F0F4F8"/>
                    </a:solidFill>
                  </a:tcPr>
                </a:tc>
                <a:extLst>
                  <a:ext uri="{0D108BD9-81ED-4DB2-BD59-A6C34878D82A}">
                    <a16:rowId xmlns:a16="http://schemas.microsoft.com/office/drawing/2014/main" val="10002"/>
                  </a:ext>
                </a:extLst>
              </a:tr>
              <a:tr h="685800">
                <a:tc>
                  <a:txBody>
                    <a:bodyPr/>
                    <a:lstStyle/>
                    <a:p>
                      <a:pPr algn="l"/>
                      <a:r>
                        <a:rPr sz="1400" b="0">
                          <a:solidFill>
                            <a:srgbClr val="222A33"/>
                          </a:solidFill>
                        </a:rPr>
                        <a:t>Audit</a:t>
                      </a:r>
                    </a:p>
                  </a:txBody>
                  <a:tcPr>
                    <a:solidFill>
                      <a:srgbClr val="FFFFFF"/>
                    </a:solidFill>
                  </a:tcPr>
                </a:tc>
                <a:tc>
                  <a:txBody>
                    <a:bodyPr/>
                    <a:lstStyle/>
                    <a:p>
                      <a:pPr algn="l"/>
                      <a:r>
                        <a:rPr sz="1400" b="0">
                          <a:solidFill>
                            <a:srgbClr val="222A33"/>
                          </a:solidFill>
                        </a:rPr>
                        <a:t>each agent implements its own</a:t>
                      </a:r>
                    </a:p>
                  </a:txBody>
                  <a:tcPr>
                    <a:solidFill>
                      <a:srgbClr val="FFFFFF"/>
                    </a:solidFill>
                  </a:tcPr>
                </a:tc>
                <a:tc>
                  <a:txBody>
                    <a:bodyPr/>
                    <a:lstStyle/>
                    <a:p>
                      <a:pPr algn="l"/>
                      <a:r>
                        <a:rPr sz="1400" b="0">
                          <a:solidFill>
                            <a:srgbClr val="222A33"/>
                          </a:solidFill>
                        </a:rPr>
                        <a:t>one enforcement point at the campus host</a:t>
                      </a:r>
                    </a:p>
                  </a:txBody>
                  <a:tcPr>
                    <a:solidFill>
                      <a:srgbClr val="FFFFFF"/>
                    </a:solidFill>
                  </a:tcPr>
                </a:tc>
                <a:extLst>
                  <a:ext uri="{0D108BD9-81ED-4DB2-BD59-A6C34878D82A}">
                    <a16:rowId xmlns:a16="http://schemas.microsoft.com/office/drawing/2014/main" val="10003"/>
                  </a:ext>
                </a:extLst>
              </a:tr>
              <a:tr h="685800">
                <a:tc>
                  <a:txBody>
                    <a:bodyPr/>
                    <a:lstStyle/>
                    <a:p>
                      <a:pPr algn="l"/>
                      <a:r>
                        <a:rPr sz="1400" b="0">
                          <a:solidFill>
                            <a:srgbClr val="222A33"/>
                          </a:solidFill>
                        </a:rPr>
                        <a:t>Offline</a:t>
                      </a:r>
                    </a:p>
                  </a:txBody>
                  <a:tcPr>
                    <a:solidFill>
                      <a:srgbClr val="F0F4F8"/>
                    </a:solidFill>
                  </a:tcPr>
                </a:tc>
                <a:tc>
                  <a:txBody>
                    <a:bodyPr/>
                    <a:lstStyle/>
                    <a:p>
                      <a:pPr algn="l"/>
                      <a:r>
                        <a:rPr sz="1400" b="0">
                          <a:solidFill>
                            <a:srgbClr val="222A33"/>
                          </a:solidFill>
                        </a:rPr>
                        <a:t>call to offline agent fails</a:t>
                      </a:r>
                    </a:p>
                  </a:txBody>
                  <a:tcPr>
                    <a:solidFill>
                      <a:srgbClr val="F0F4F8"/>
                    </a:solidFill>
                  </a:tcPr>
                </a:tc>
                <a:tc>
                  <a:txBody>
                    <a:bodyPr/>
                    <a:lstStyle/>
                    <a:p>
                      <a:pPr algn="l"/>
                      <a:r>
                        <a:rPr sz="1400" b="1">
                          <a:solidFill>
                            <a:srgbClr val="222A33"/>
                          </a:solidFill>
                        </a:rPr>
                        <a:t>mailbox queues</a:t>
                      </a:r>
                      <a:r>
                        <a:rPr sz="1400" b="0">
                          <a:solidFill>
                            <a:srgbClr val="222A33"/>
                          </a:solidFill>
                        </a:rPr>
                        <a:t>; delivered later</a:t>
                      </a:r>
                    </a:p>
                  </a:txBody>
                  <a:tcPr>
                    <a:solidFill>
                      <a:srgbClr val="F0F4F8"/>
                    </a:solidFill>
                  </a:tcPr>
                </a:tc>
                <a:extLst>
                  <a:ext uri="{0D108BD9-81ED-4DB2-BD59-A6C34878D82A}">
                    <a16:rowId xmlns:a16="http://schemas.microsoft.com/office/drawing/2014/main" val="10004"/>
                  </a:ext>
                </a:extLst>
              </a:tr>
              <a:tr h="685800">
                <a:tc>
                  <a:txBody>
                    <a:bodyPr/>
                    <a:lstStyle/>
                    <a:p>
                      <a:pPr algn="l"/>
                      <a:r>
                        <a:rPr sz="1400" b="0">
                          <a:solidFill>
                            <a:srgbClr val="222A33"/>
                          </a:solidFill>
                        </a:rPr>
                        <a:t>Privacy</a:t>
                      </a:r>
                    </a:p>
                  </a:txBody>
                  <a:tcPr>
                    <a:solidFill>
                      <a:srgbClr val="FFFFFF"/>
                    </a:solidFill>
                  </a:tcPr>
                </a:tc>
                <a:tc>
                  <a:txBody>
                    <a:bodyPr/>
                    <a:lstStyle/>
                    <a:p>
                      <a:pPr algn="l"/>
                      <a:r>
                        <a:rPr sz="1400" b="0">
                          <a:solidFill>
                            <a:srgbClr val="222A33"/>
                          </a:solidFill>
                        </a:rPr>
                        <a:t>TLS terminates at relays</a:t>
                      </a:r>
                    </a:p>
                  </a:txBody>
                  <a:tcPr>
                    <a:solidFill>
                      <a:srgbClr val="FFFFFF"/>
                    </a:solidFill>
                  </a:tcPr>
                </a:tc>
                <a:tc>
                  <a:txBody>
                    <a:bodyPr/>
                    <a:lstStyle/>
                    <a:p>
                      <a:pPr algn="l"/>
                      <a:r>
                        <a:rPr sz="1400" b="0">
                          <a:solidFill>
                            <a:srgbClr val="222A33"/>
                          </a:solidFill>
                        </a:rPr>
                        <a:t>per-entity keys; relays cannot read content</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640080"/>
          </a:xfrm>
          <a:prstGeom prst="rect">
            <a:avLst/>
          </a:prstGeom>
          <a:noFill/>
        </p:spPr>
        <p:txBody>
          <a:bodyPr wrap="square" lIns="0" tIns="0" rIns="0" bIns="0" anchor="t">
            <a:spAutoFit/>
          </a:bodyPr>
          <a:lstStyle/>
          <a:p>
            <a:pPr algn="l"/>
            <a:r>
              <a:rPr sz="3200" b="1">
                <a:solidFill>
                  <a:srgbClr val="1A4D8F"/>
                </a:solidFill>
              </a:rPr>
              <a:t>Lab agenda</a:t>
            </a:r>
          </a:p>
        </p:txBody>
      </p:sp>
      <p:sp>
        <p:nvSpPr>
          <p:cNvPr id="3" name="Rectangle 2"/>
          <p:cNvSpPr/>
          <p:nvPr/>
        </p:nvSpPr>
        <p:spPr>
          <a:xfrm>
            <a:off x="548640" y="960120"/>
            <a:ext cx="11091672" cy="20000"/>
          </a:xfrm>
          <a:prstGeom prst="rect">
            <a:avLst/>
          </a:prstGeom>
          <a:solidFill>
            <a:srgbClr val="1A4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463040"/>
          <a:ext cx="11430000" cy="237744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594360">
                <a:tc>
                  <a:txBody>
                    <a:bodyPr/>
                    <a:lstStyle/>
                    <a:p>
                      <a:pPr algn="l"/>
                      <a:r>
                        <a:rPr sz="1500" b="1">
                          <a:solidFill>
                            <a:srgbClr val="FFFFFF"/>
                          </a:solidFill>
                        </a:rPr>
                        <a:t>#</a:t>
                      </a:r>
                    </a:p>
                  </a:txBody>
                  <a:tcPr>
                    <a:solidFill>
                      <a:srgbClr val="1A4D8F"/>
                    </a:solidFill>
                  </a:tcPr>
                </a:tc>
                <a:tc>
                  <a:txBody>
                    <a:bodyPr/>
                    <a:lstStyle/>
                    <a:p>
                      <a:pPr algn="l"/>
                      <a:r>
                        <a:rPr sz="1500" b="1">
                          <a:solidFill>
                            <a:srgbClr val="FFFFFF"/>
                          </a:solidFill>
                        </a:rPr>
                        <a:t>Topic</a:t>
                      </a:r>
                    </a:p>
                  </a:txBody>
                  <a:tcPr>
                    <a:solidFill>
                      <a:srgbClr val="1A4D8F"/>
                    </a:solidFill>
                  </a:tcPr>
                </a:tc>
                <a:tc>
                  <a:txBody>
                    <a:bodyPr/>
                    <a:lstStyle/>
                    <a:p>
                      <a:pPr algn="l"/>
                      <a:r>
                        <a:rPr sz="1500" b="1">
                          <a:solidFill>
                            <a:srgbClr val="FFFFFF"/>
                          </a:solidFill>
                        </a:rPr>
                        <a:t>Time</a:t>
                      </a:r>
                    </a:p>
                  </a:txBody>
                  <a:tcPr>
                    <a:solidFill>
                      <a:srgbClr val="1A4D8F"/>
                    </a:solidFill>
                  </a:tcPr>
                </a:tc>
                <a:tc>
                  <a:txBody>
                    <a:bodyPr/>
                    <a:lstStyle/>
                    <a:p>
                      <a:pPr algn="l"/>
                      <a:r>
                        <a:rPr sz="1500" b="1">
                          <a:solidFill>
                            <a:srgbClr val="FFFFFF"/>
                          </a:solidFill>
                        </a:rPr>
                        <a:t>Notebook</a:t>
                      </a:r>
                    </a:p>
                  </a:txBody>
                  <a:tcPr>
                    <a:solidFill>
                      <a:srgbClr val="1A4D8F"/>
                    </a:solidFill>
                  </a:tcPr>
                </a:tc>
                <a:extLst>
                  <a:ext uri="{0D108BD9-81ED-4DB2-BD59-A6C34878D82A}">
                    <a16:rowId xmlns:a16="http://schemas.microsoft.com/office/drawing/2014/main" val="10000"/>
                  </a:ext>
                </a:extLst>
              </a:tr>
              <a:tr h="594360">
                <a:tc>
                  <a:txBody>
                    <a:bodyPr/>
                    <a:lstStyle/>
                    <a:p>
                      <a:pPr algn="l"/>
                      <a:r>
                        <a:rPr sz="1500" b="0">
                          <a:solidFill>
                            <a:srgbClr val="222A33"/>
                          </a:solidFill>
                        </a:rPr>
                        <a:t>1</a:t>
                      </a:r>
                    </a:p>
                  </a:txBody>
                  <a:tcPr>
                    <a:solidFill>
                      <a:srgbClr val="FFFFFF"/>
                    </a:solidFill>
                  </a:tcPr>
                </a:tc>
                <a:tc>
                  <a:txBody>
                    <a:bodyPr/>
                    <a:lstStyle/>
                    <a:p>
                      <a:pPr algn="l"/>
                      <a:r>
                        <a:rPr sz="1500" b="1">
                          <a:solidFill>
                            <a:srgbClr val="222A33"/>
                          </a:solidFill>
                        </a:rPr>
                        <a:t>MCP</a:t>
                      </a:r>
                      <a:r>
                        <a:rPr sz="1500" b="0">
                          <a:solidFill>
                            <a:srgbClr val="222A33"/>
                          </a:solidFill>
                        </a:rPr>
                        <a:t> — Claude with stock-data + plotting tools</a:t>
                      </a:r>
                    </a:p>
                  </a:txBody>
                  <a:tcPr>
                    <a:solidFill>
                      <a:srgbClr val="FFFFFF"/>
                    </a:solidFill>
                  </a:tcPr>
                </a:tc>
                <a:tc>
                  <a:txBody>
                    <a:bodyPr/>
                    <a:lstStyle/>
                    <a:p>
                      <a:pPr algn="l"/>
                      <a:r>
                        <a:rPr sz="1500" b="0">
                          <a:solidFill>
                            <a:srgbClr val="222A33"/>
                          </a:solidFill>
                        </a:rPr>
                        <a:t>~10 min</a:t>
                      </a:r>
                    </a:p>
                  </a:txBody>
                  <a:tcPr>
                    <a:solidFill>
                      <a:srgbClr val="FFFFFF"/>
                    </a:solidFill>
                  </a:tcPr>
                </a:tc>
                <a:tc>
                  <a:txBody>
                    <a:bodyPr/>
                    <a:lstStyle/>
                    <a:p>
                      <a:pPr algn="l"/>
                      <a:r>
                        <a:rPr sz="1500" b="0">
                          <a:solidFill>
                            <a:srgbClr val="222A33"/>
                          </a:solidFill>
                        </a:rPr>
                        <a:t>demo1_mcp/01_mcp_demo.ipynb</a:t>
                      </a:r>
                    </a:p>
                  </a:txBody>
                  <a:tcPr>
                    <a:solidFill>
                      <a:srgbClr val="FFFFFF"/>
                    </a:solidFill>
                  </a:tcPr>
                </a:tc>
                <a:extLst>
                  <a:ext uri="{0D108BD9-81ED-4DB2-BD59-A6C34878D82A}">
                    <a16:rowId xmlns:a16="http://schemas.microsoft.com/office/drawing/2014/main" val="10001"/>
                  </a:ext>
                </a:extLst>
              </a:tr>
              <a:tr h="594360">
                <a:tc>
                  <a:txBody>
                    <a:bodyPr/>
                    <a:lstStyle/>
                    <a:p>
                      <a:pPr algn="l"/>
                      <a:r>
                        <a:rPr sz="1500" b="0">
                          <a:solidFill>
                            <a:srgbClr val="222A33"/>
                          </a:solidFill>
                        </a:rPr>
                        <a:t>2</a:t>
                      </a:r>
                    </a:p>
                  </a:txBody>
                  <a:tcPr>
                    <a:solidFill>
                      <a:srgbClr val="F0F4F8"/>
                    </a:solidFill>
                  </a:tcPr>
                </a:tc>
                <a:tc>
                  <a:txBody>
                    <a:bodyPr/>
                    <a:lstStyle/>
                    <a:p>
                      <a:pPr algn="l"/>
                      <a:r>
                        <a:rPr sz="1500" b="1">
                          <a:solidFill>
                            <a:srgbClr val="222A33"/>
                          </a:solidFill>
                        </a:rPr>
                        <a:t>A2A</a:t>
                      </a:r>
                      <a:r>
                        <a:rPr sz="1500" b="0">
                          <a:solidFill>
                            <a:srgbClr val="222A33"/>
                          </a:solidFill>
                        </a:rPr>
                        <a:t> — delegate "Analyze NVDA" to an analyst agent</a:t>
                      </a:r>
                    </a:p>
                  </a:txBody>
                  <a:tcPr>
                    <a:solidFill>
                      <a:srgbClr val="F0F4F8"/>
                    </a:solidFill>
                  </a:tcPr>
                </a:tc>
                <a:tc>
                  <a:txBody>
                    <a:bodyPr/>
                    <a:lstStyle/>
                    <a:p>
                      <a:pPr algn="l"/>
                      <a:r>
                        <a:rPr sz="1500" b="0">
                          <a:solidFill>
                            <a:srgbClr val="222A33"/>
                          </a:solidFill>
                        </a:rPr>
                        <a:t>~10 min</a:t>
                      </a:r>
                    </a:p>
                  </a:txBody>
                  <a:tcPr>
                    <a:solidFill>
                      <a:srgbClr val="F0F4F8"/>
                    </a:solidFill>
                  </a:tcPr>
                </a:tc>
                <a:tc>
                  <a:txBody>
                    <a:bodyPr/>
                    <a:lstStyle/>
                    <a:p>
                      <a:pPr algn="l"/>
                      <a:r>
                        <a:rPr sz="1500" b="0">
                          <a:solidFill>
                            <a:srgbClr val="222A33"/>
                          </a:solidFill>
                        </a:rPr>
                        <a:t>demo2_a2a/02_a2a_demo.ipynb</a:t>
                      </a:r>
                    </a:p>
                  </a:txBody>
                  <a:tcPr>
                    <a:solidFill>
                      <a:srgbClr val="F0F4F8"/>
                    </a:solidFill>
                  </a:tcPr>
                </a:tc>
                <a:extLst>
                  <a:ext uri="{0D108BD9-81ED-4DB2-BD59-A6C34878D82A}">
                    <a16:rowId xmlns:a16="http://schemas.microsoft.com/office/drawing/2014/main" val="10002"/>
                  </a:ext>
                </a:extLst>
              </a:tr>
              <a:tr h="594360">
                <a:tc>
                  <a:txBody>
                    <a:bodyPr/>
                    <a:lstStyle/>
                    <a:p>
                      <a:pPr algn="l"/>
                      <a:r>
                        <a:rPr sz="1500" b="0">
                          <a:solidFill>
                            <a:srgbClr val="222A33"/>
                          </a:solidFill>
                        </a:rPr>
                        <a:t>3</a:t>
                      </a:r>
                    </a:p>
                  </a:txBody>
                  <a:tcPr>
                    <a:solidFill>
                      <a:srgbClr val="FFFFFF"/>
                    </a:solidFill>
                  </a:tcPr>
                </a:tc>
                <a:tc>
                  <a:txBody>
                    <a:bodyPr/>
                    <a:lstStyle/>
                    <a:p>
                      <a:pPr algn="l"/>
                      <a:r>
                        <a:rPr sz="1500" b="1">
                          <a:solidFill>
                            <a:srgbClr val="222A33"/>
                          </a:solidFill>
                        </a:rPr>
                        <a:t>FA</a:t>
                      </a:r>
                      <a:r>
                        <a:rPr sz="1500" b="0">
                          <a:solidFill>
                            <a:srgbClr val="222A33"/>
                          </a:solidFill>
                        </a:rPr>
                        <a:t> — equity analyst discovers + calls a macro analyst on another host</a:t>
                      </a:r>
                    </a:p>
                  </a:txBody>
                  <a:tcPr>
                    <a:solidFill>
                      <a:srgbClr val="FFFFFF"/>
                    </a:solidFill>
                  </a:tcPr>
                </a:tc>
                <a:tc>
                  <a:txBody>
                    <a:bodyPr/>
                    <a:lstStyle/>
                    <a:p>
                      <a:pPr algn="l"/>
                      <a:r>
                        <a:rPr sz="1500" b="0">
                          <a:solidFill>
                            <a:srgbClr val="222A33"/>
                          </a:solidFill>
                        </a:rPr>
                        <a:t>~10 min</a:t>
                      </a:r>
                    </a:p>
                  </a:txBody>
                  <a:tcPr>
                    <a:solidFill>
                      <a:srgbClr val="FFFFFF"/>
                    </a:solidFill>
                  </a:tcPr>
                </a:tc>
                <a:tc>
                  <a:txBody>
                    <a:bodyPr/>
                    <a:lstStyle/>
                    <a:p>
                      <a:pPr algn="l"/>
                      <a:r>
                        <a:rPr sz="1500" b="0">
                          <a:solidFill>
                            <a:srgbClr val="222A33"/>
                          </a:solidFill>
                        </a:rPr>
                        <a:t>demo3_fa/03_fa_demo.ipynb</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4937760"/>
            <a:ext cx="10972800" cy="502920"/>
          </a:xfrm>
          <a:prstGeom prst="rect">
            <a:avLst/>
          </a:prstGeom>
          <a:noFill/>
        </p:spPr>
        <p:txBody>
          <a:bodyPr wrap="square" lIns="0" tIns="0" rIns="0" bIns="0" anchor="t">
            <a:spAutoFit/>
          </a:bodyPr>
          <a:lstStyle/>
          <a:p>
            <a:pPr algn="ctr"/>
            <a:r>
              <a:rPr sz="2000" b="1">
                <a:solidFill>
                  <a:srgbClr val="1A4D8F"/>
                </a:solidFill>
              </a:rPr>
              <a:t>Same input across all three: a question about NVDA.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377440"/>
            <a:ext cx="10972800" cy="1097280"/>
          </a:xfrm>
          <a:prstGeom prst="rect">
            <a:avLst/>
          </a:prstGeom>
          <a:noFill/>
        </p:spPr>
        <p:txBody>
          <a:bodyPr wrap="square" lIns="0" tIns="0" rIns="0" bIns="0" anchor="t">
            <a:spAutoFit/>
          </a:bodyPr>
          <a:lstStyle/>
          <a:p>
            <a:pPr algn="l"/>
            <a:r>
              <a:rPr sz="5400" b="1">
                <a:solidFill>
                  <a:srgbClr val="1A4D8F"/>
                </a:solidFill>
              </a:rPr>
              <a:t>Let's begin →</a:t>
            </a:r>
          </a:p>
        </p:txBody>
      </p:sp>
      <p:sp>
        <p:nvSpPr>
          <p:cNvPr id="3" name="TextBox 2"/>
          <p:cNvSpPr txBox="1"/>
          <p:nvPr/>
        </p:nvSpPr>
        <p:spPr>
          <a:xfrm>
            <a:off x="548640" y="3566160"/>
            <a:ext cx="10972800" cy="731520"/>
          </a:xfrm>
          <a:prstGeom prst="rect">
            <a:avLst/>
          </a:prstGeom>
          <a:noFill/>
        </p:spPr>
        <p:txBody>
          <a:bodyPr wrap="square" lIns="0" tIns="0" rIns="0" bIns="0" anchor="t">
            <a:spAutoFit/>
          </a:bodyPr>
          <a:lstStyle/>
          <a:p>
            <a:pPr algn="l"/>
            <a:r>
              <a:rPr sz="2800" b="0">
                <a:solidFill>
                  <a:srgbClr val="222A33"/>
                </a:solidFill>
              </a:rPr>
              <a:t>demo1_mcp/01_mcp_demo.ipynb</a:t>
            </a:r>
          </a:p>
        </p:txBody>
      </p:sp>
      <p:sp>
        <p:nvSpPr>
          <p:cNvPr id="4" name="TextBox 3"/>
          <p:cNvSpPr txBox="1"/>
          <p:nvPr/>
        </p:nvSpPr>
        <p:spPr>
          <a:xfrm>
            <a:off x="548640" y="6035040"/>
            <a:ext cx="10972800" cy="457200"/>
          </a:xfrm>
          <a:prstGeom prst="rect">
            <a:avLst/>
          </a:prstGeom>
          <a:noFill/>
        </p:spPr>
        <p:txBody>
          <a:bodyPr wrap="square" lIns="0" tIns="0" rIns="0" bIns="0" anchor="t">
            <a:spAutoFit/>
          </a:bodyPr>
          <a:lstStyle/>
          <a:p>
            <a:pPr algn="l"/>
            <a:r>
              <a:rPr sz="1400" b="0">
                <a:solidFill>
                  <a:srgbClr val="66707A"/>
                </a:solidFill>
              </a:rPr>
              <a:t>Interrupt with questions at any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2365</Words>
  <Application>Microsoft Macintosh PowerPoint</Application>
  <PresentationFormat>Widescreen</PresentationFormat>
  <Paragraphs>224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JACK WU</cp:lastModifiedBy>
  <cp:revision>3</cp:revision>
  <dcterms:created xsi:type="dcterms:W3CDTF">2013-01-27T09:14:16Z</dcterms:created>
  <dcterms:modified xsi:type="dcterms:W3CDTF">2026-05-02T06:17:12Z</dcterms:modified>
  <cp:category/>
</cp:coreProperties>
</file>